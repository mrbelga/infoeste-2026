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2FA7ED-ADB4-4F99-B2AC-5DEA1E79FB8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A3AA8C-B82F-4A36-ADBE-CB172ED51A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0EF810-AD7E-490A-9D6B-5707B20AB3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F70C30-D695-4F8A-AB89-0180C78C07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C39B0B-B69D-4FB5-AC01-4FCD5B5592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3D431-109A-41FE-B85E-A2B2F46CAC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34B9D-2E4D-4F07-959D-3375769477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7E7797-177D-439D-90AB-F6F723DD9F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65CD6-9822-4338-AB81-F78B0DF9B5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C68822-5E18-4C08-BF98-FEA6F0FCE2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DA419-12D4-438D-8F69-6D0B43A67E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012CBB-2F28-4558-AA42-7EEAD3D8EA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888D3-83BA-4563-BD52-67B0CF78B7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37AE3D-5DA2-4683-BAA2-B0BBA634DC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7801A7-C391-420C-BA7D-6CC190FE12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A74352-3D65-451B-A3E2-E8D9939984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EB06A-98D8-4C26-BB27-E19E9551BE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49B3F1-B650-439F-B3C4-424B63D4DA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699B6E-3355-4EC0-8138-10D699BA93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5B342-3273-46A2-BBFD-1EE1BA6460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BE9D8A-B19E-45B7-B97C-F88BEFC2B8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E47AE2-CB9C-44A0-97B3-0CAC92C129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2AA054-DB29-4664-8EB2-8F2F583F57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A1FB5A-A8B3-4C4E-AD6C-BFFFCFD74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41E9DD-B0FA-4509-8043-A622C8417D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CF73CA-5E54-4C9F-84DA-5F1AC2E3BC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31BF4B-D0E3-4B2D-979F-9AD97AAD7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3BA38F-2514-40CD-A5CC-548572901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F6AF9-668F-4272-B6A2-8B2152D231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36648A-13EF-483A-8654-07EC15B940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75DFEC-2775-451A-9953-0C61A18F86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8E3409-C359-40E0-B6FD-93CAC4FB37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3D0FB-3FFF-49D4-AF96-80B78A2642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2D4646-3CEF-4666-AD85-E5D390824C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263165-2BB2-41F4-AFF8-8EE75F6D25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980E96-9502-4244-92D5-5F8B49B285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F262A5-89E1-4610-919E-50650B8577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10B1CE-0C5A-4686-8AD7-B44F74EE1B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40080" y="1280160"/>
            <a:ext cx="4388760" cy="178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pt-BR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</a:t>
            </a:r>
            <a:r>
              <a:rPr lang="pt-BR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do </a:t>
            </a:r>
            <a:r>
              <a:rPr lang="pt-BR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do </a:t>
            </a:r>
            <a:r>
              <a:rPr lang="pt-BR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pt-BR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40080" y="3291840"/>
            <a:ext cx="429732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731520" y="1417320"/>
            <a:ext cx="548280" cy="637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pt-BR" sz="3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</a:t>
            </a: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57200" y="292680"/>
            <a:ext cx="502560" cy="54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4773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Introdução à Inteligência Artificial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formato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texto do título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1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74DB13-7651-44A5-86A7-BC8924D69D66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37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jpe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colab.research.google.com" TargetMode="External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jpe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jpe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image" Target="../media/image50.jpeg"/><Relationship Id="rId3" Type="http://schemas.openxmlformats.org/officeDocument/2006/relationships/image" Target="../media/image51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hyperlink" Target="https://playground.tensorflow.org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hyperlink" Target="https://colab.research.google.com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imagem ilustrativa"/>
          <p:cNvPicPr/>
          <p:nvPr/>
        </p:nvPicPr>
        <p:blipFill>
          <a:blip r:embed="rId1"/>
          <a:stretch/>
        </p:blipFill>
        <p:spPr>
          <a:xfrm>
            <a:off x="5120640" y="0"/>
            <a:ext cx="4023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overlay"/>
          <p:cNvSpPr/>
          <p:nvPr/>
        </p:nvSpPr>
        <p:spPr>
          <a:xfrm>
            <a:off x="5120640" y="0"/>
            <a:ext cx="4023000" cy="5143320"/>
          </a:xfrm>
          <a:prstGeom prst="rect">
            <a:avLst/>
          </a:prstGeom>
          <a:solidFill>
            <a:schemeClr val="dk1">
              <a:alpha val="45000"/>
            </a:schemeClr>
          </a:solidFill>
          <a:ln w="127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neon-strip"/>
          <p:cNvSpPr/>
          <p:nvPr/>
        </p:nvSpPr>
        <p:spPr>
          <a:xfrm>
            <a:off x="5074920" y="0"/>
            <a:ext cx="63720" cy="51433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ill"/>
          <p:cNvSpPr/>
          <p:nvPr/>
        </p:nvSpPr>
        <p:spPr>
          <a:xfrm>
            <a:off x="640080" y="685800"/>
            <a:ext cx="3382920" cy="3286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640080" y="685800"/>
            <a:ext cx="3382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MINICURSO  ·  INFOESTE  ·  FIPPETEC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1280160"/>
            <a:ext cx="4388760" cy="178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Introdução à Inteligência Artificial</a:t>
            </a:r>
            <a:endParaRPr lang="pt-BR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hasCustomPrompt="1"/>
          </p:nvPr>
        </p:nvSpPr>
        <p:spPr>
          <a:xfrm>
            <a:off x="640080" y="3291840"/>
            <a:ext cx="429732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Luis Felipe Pereira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Maria Julia Varga Sita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Maria Isabelly da Silva Andrade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Pedro Augusto de Lima Cardozo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Daniel Elias Fonseca Rumin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0080" y="44348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2025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Conteúdo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card"/>
          <p:cNvSpPr/>
          <p:nvPr/>
        </p:nvSpPr>
        <p:spPr>
          <a:xfrm>
            <a:off x="457200" y="1188720"/>
            <a:ext cx="4023000" cy="9871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num-badge"/>
          <p:cNvSpPr/>
          <p:nvPr/>
        </p:nvSpPr>
        <p:spPr>
          <a:xfrm>
            <a:off x="640080" y="1435680"/>
            <a:ext cx="493560" cy="493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640080" y="14356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325880" y="1298520"/>
            <a:ext cx="30171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que é Inteligência Artificial?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card"/>
          <p:cNvSpPr/>
          <p:nvPr/>
        </p:nvSpPr>
        <p:spPr>
          <a:xfrm>
            <a:off x="4663440" y="1188720"/>
            <a:ext cx="4023000" cy="9871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card-accent"/>
          <p:cNvSpPr/>
          <p:nvPr/>
        </p:nvSpPr>
        <p:spPr>
          <a:xfrm>
            <a:off x="4892040" y="1188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num-badge"/>
          <p:cNvSpPr/>
          <p:nvPr/>
        </p:nvSpPr>
        <p:spPr>
          <a:xfrm>
            <a:off x="4846320" y="1435680"/>
            <a:ext cx="493560" cy="4935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4846320" y="14356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5532120" y="1298520"/>
            <a:ext cx="30171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Como a Inteligência Artificial funciona?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card"/>
          <p:cNvSpPr/>
          <p:nvPr/>
        </p:nvSpPr>
        <p:spPr>
          <a:xfrm>
            <a:off x="457200" y="2331720"/>
            <a:ext cx="4023000" cy="9871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card-accent"/>
          <p:cNvSpPr/>
          <p:nvPr/>
        </p:nvSpPr>
        <p:spPr>
          <a:xfrm>
            <a:off x="685800" y="23317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num-badge"/>
          <p:cNvSpPr/>
          <p:nvPr/>
        </p:nvSpPr>
        <p:spPr>
          <a:xfrm>
            <a:off x="640080" y="2578680"/>
            <a:ext cx="493560" cy="4935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640080" y="25786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1325880" y="24415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Aplicações práticas da IA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1325880" y="289872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Funcionamento dos Chatbots  •  Funcionamento do ChatGPT  •  Praticando no Chatbots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card"/>
          <p:cNvSpPr/>
          <p:nvPr/>
        </p:nvSpPr>
        <p:spPr>
          <a:xfrm>
            <a:off x="4663440" y="2331720"/>
            <a:ext cx="4023000" cy="9871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card-accent"/>
          <p:cNvSpPr/>
          <p:nvPr/>
        </p:nvSpPr>
        <p:spPr>
          <a:xfrm>
            <a:off x="4892040" y="23317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num-badge"/>
          <p:cNvSpPr/>
          <p:nvPr/>
        </p:nvSpPr>
        <p:spPr>
          <a:xfrm>
            <a:off x="4846320" y="2578680"/>
            <a:ext cx="493560" cy="4935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4846320" y="25786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5532120" y="2441520"/>
            <a:ext cx="30171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futuro da Inteligência Artificial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card"/>
          <p:cNvSpPr/>
          <p:nvPr/>
        </p:nvSpPr>
        <p:spPr>
          <a:xfrm>
            <a:off x="457200" y="3474720"/>
            <a:ext cx="4023000" cy="9871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card-accent"/>
          <p:cNvSpPr/>
          <p:nvPr/>
        </p:nvSpPr>
        <p:spPr>
          <a:xfrm>
            <a:off x="685800" y="347472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num-badge"/>
          <p:cNvSpPr/>
          <p:nvPr/>
        </p:nvSpPr>
        <p:spPr>
          <a:xfrm>
            <a:off x="640080" y="3721680"/>
            <a:ext cx="493560" cy="4935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640080" y="37216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1325880" y="3584520"/>
            <a:ext cx="30171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que é visão computacional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card"/>
          <p:cNvSpPr/>
          <p:nvPr/>
        </p:nvSpPr>
        <p:spPr>
          <a:xfrm>
            <a:off x="4663440" y="3474720"/>
            <a:ext cx="4023000" cy="98712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card-accent"/>
          <p:cNvSpPr/>
          <p:nvPr/>
        </p:nvSpPr>
        <p:spPr>
          <a:xfrm>
            <a:off x="4892040" y="3474720"/>
            <a:ext cx="548280" cy="4536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num-badge"/>
          <p:cNvSpPr/>
          <p:nvPr/>
        </p:nvSpPr>
        <p:spPr>
          <a:xfrm>
            <a:off x="4846320" y="3721680"/>
            <a:ext cx="493560" cy="493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0"/>
          <p:cNvSpPr/>
          <p:nvPr/>
        </p:nvSpPr>
        <p:spPr>
          <a:xfrm>
            <a:off x="4846320" y="37216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5532120" y="3584520"/>
            <a:ext cx="30171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Funcionamento para reconhecer os objetos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5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7E3869-591C-4AD3-B9A4-E6B031D70F02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hasCustomPrompt="1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PARTE 01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que é Inteligência Artificial?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 2"/>
          <p:cNvSpPr/>
          <p:nvPr/>
        </p:nvSpPr>
        <p:spPr>
          <a:xfrm>
            <a:off x="6583680" y="15544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chemeClr val="accent2">
                    <a:alpha val="60000"/>
                  </a:schemeClr>
                </a:solidFill>
                <a:effectLst/>
                <a:uFillTx/>
                <a:latin typeface="Calibri"/>
              </a:rPr>
              <a:t>01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Inteligência Artificial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card"/>
          <p:cNvSpPr/>
          <p:nvPr/>
        </p:nvSpPr>
        <p:spPr>
          <a:xfrm>
            <a:off x="457200" y="1143000"/>
            <a:ext cx="8229240" cy="105120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731520" y="1188720"/>
            <a:ext cx="7680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Inteligência Artificial é a capacidade das máquinas de aprender e realizar tarefas que normalmente exigiriam inteligência humana.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457200" y="23774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1ª TENTATIVA: SOLUÇÕES MECÂNICAS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hoto-card"/>
          <p:cNvSpPr/>
          <p:nvPr/>
        </p:nvSpPr>
        <p:spPr>
          <a:xfrm>
            <a:off x="457200" y="2743200"/>
            <a:ext cx="4023000" cy="18741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Jogador de xadrez mecânico de 1769"/>
          <p:cNvPicPr/>
          <p:nvPr/>
        </p:nvPicPr>
        <p:blipFill>
          <a:blip r:embed="rId1"/>
          <a:stretch/>
        </p:blipFill>
        <p:spPr>
          <a:xfrm>
            <a:off x="1629720" y="2788920"/>
            <a:ext cx="167796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6"/>
          <p:cNvSpPr/>
          <p:nvPr/>
        </p:nvSpPr>
        <p:spPr>
          <a:xfrm>
            <a:off x="457200" y="42793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Jogador de xadrez de 1769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hoto-card"/>
          <p:cNvSpPr/>
          <p:nvPr/>
        </p:nvSpPr>
        <p:spPr>
          <a:xfrm>
            <a:off x="4663440" y="2743200"/>
            <a:ext cx="4023000" cy="18741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1" descr="Pato digeridor de 1739"/>
          <p:cNvPicPr/>
          <p:nvPr/>
        </p:nvPicPr>
        <p:blipFill>
          <a:blip r:embed="rId2"/>
          <a:stretch/>
        </p:blipFill>
        <p:spPr>
          <a:xfrm>
            <a:off x="5924520" y="2788920"/>
            <a:ext cx="150048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8"/>
          <p:cNvSpPr/>
          <p:nvPr/>
        </p:nvSpPr>
        <p:spPr>
          <a:xfrm>
            <a:off x="4663440" y="42793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Pato digeridor de 1739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6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1A3331-F65A-472F-B53B-27C13E8C0818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Máquinas vs. humanos no xadrez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card"/>
          <p:cNvSpPr/>
          <p:nvPr/>
        </p:nvSpPr>
        <p:spPr>
          <a:xfrm>
            <a:off x="457200" y="1143000"/>
            <a:ext cx="8229240" cy="132552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685800" y="1280160"/>
            <a:ext cx="1554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1967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2377440" y="1234440"/>
            <a:ext cx="6126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MacHack  ·  MIT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programa de xadrez MacHack, desenvolvido no MIT (Massachusetts Institute of Technology), derrotou o filósofo Hubert Dreyfus, um dos maiores críticos da IA.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card"/>
          <p:cNvSpPr/>
          <p:nvPr/>
        </p:nvSpPr>
        <p:spPr>
          <a:xfrm>
            <a:off x="457200" y="2651760"/>
            <a:ext cx="8229240" cy="201132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card-accent"/>
          <p:cNvSpPr/>
          <p:nvPr/>
        </p:nvSpPr>
        <p:spPr>
          <a:xfrm>
            <a:off x="685800" y="265176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685800" y="283464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1997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2377440" y="2743200"/>
            <a:ext cx="3291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Deep Blue  ×  Kasparov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campeão mundial de xadrez Garry Kasparov foi vencido pelo supercomputador IBM Deep Blue.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core-chip"/>
          <p:cNvSpPr/>
          <p:nvPr/>
        </p:nvSpPr>
        <p:spPr>
          <a:xfrm>
            <a:off x="2377440" y="4023360"/>
            <a:ext cx="1005480" cy="411120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5875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2377440" y="4023360"/>
            <a:ext cx="1005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2 vitórias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core-chip"/>
          <p:cNvSpPr/>
          <p:nvPr/>
        </p:nvSpPr>
        <p:spPr>
          <a:xfrm>
            <a:off x="3474720" y="4023360"/>
            <a:ext cx="1005480" cy="411120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5875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3474720" y="4023360"/>
            <a:ext cx="1005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3 empates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core-chip"/>
          <p:cNvSpPr/>
          <p:nvPr/>
        </p:nvSpPr>
        <p:spPr>
          <a:xfrm>
            <a:off x="4572000" y="4023360"/>
            <a:ext cx="1005480" cy="411120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5875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4572000" y="4023360"/>
            <a:ext cx="1005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1 derrota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Kasparov jogando contra o Deep Blue"/>
          <p:cNvPicPr/>
          <p:nvPr/>
        </p:nvPicPr>
        <p:blipFill>
          <a:blip r:embed="rId1"/>
          <a:stretch/>
        </p:blipFill>
        <p:spPr>
          <a:xfrm>
            <a:off x="5852160" y="2834640"/>
            <a:ext cx="1737000" cy="15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 1" descr="Supercomputador Deep Blue"/>
          <p:cNvPicPr/>
          <p:nvPr/>
        </p:nvPicPr>
        <p:blipFill>
          <a:blip r:embed="rId2"/>
          <a:stretch/>
        </p:blipFill>
        <p:spPr>
          <a:xfrm>
            <a:off x="7680960" y="2834640"/>
            <a:ext cx="86832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2"/>
          <p:cNvSpPr>
            <a:spLocks noGrp="1"/>
          </p:cNvSpPr>
          <p:nvPr>
            <p:ph type="sldNum" idx="7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1FCD28-C23A-4F46-B9EA-8FC69B58BB8E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A questão de Turing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109728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“Podem as máquinas pensar?”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57200" y="18288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O QUE É PENSAR?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card"/>
          <p:cNvSpPr/>
          <p:nvPr/>
        </p:nvSpPr>
        <p:spPr>
          <a:xfrm>
            <a:off x="457200" y="2130480"/>
            <a:ext cx="1535760" cy="105120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card-accent"/>
          <p:cNvSpPr/>
          <p:nvPr/>
        </p:nvSpPr>
        <p:spPr>
          <a:xfrm>
            <a:off x="685800" y="213048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567000" y="22402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Pensar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567000" y="253296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Ato ligado a resolver problemas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card"/>
          <p:cNvSpPr/>
          <p:nvPr/>
        </p:nvSpPr>
        <p:spPr>
          <a:xfrm>
            <a:off x="2121480" y="2130480"/>
            <a:ext cx="1535760" cy="105120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card-accent"/>
          <p:cNvSpPr/>
          <p:nvPr/>
        </p:nvSpPr>
        <p:spPr>
          <a:xfrm>
            <a:off x="2350080" y="213048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2231280" y="22402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Problema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2231280" y="253296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Consiste em buscar várias alternativas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card"/>
          <p:cNvSpPr/>
          <p:nvPr/>
        </p:nvSpPr>
        <p:spPr>
          <a:xfrm>
            <a:off x="3785760" y="2130480"/>
            <a:ext cx="1535760" cy="105120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card-accent"/>
          <p:cNvSpPr/>
          <p:nvPr/>
        </p:nvSpPr>
        <p:spPr>
          <a:xfrm>
            <a:off x="4014360" y="213048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3895200" y="22402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Solução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3895200" y="253296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Basta escolher uma das alternativas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57200" y="3337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POSSÍVEIS ABORDAGENS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card"/>
          <p:cNvSpPr/>
          <p:nvPr/>
        </p:nvSpPr>
        <p:spPr>
          <a:xfrm>
            <a:off x="457200" y="3639240"/>
            <a:ext cx="2422800" cy="978120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card-accent"/>
          <p:cNvSpPr/>
          <p:nvPr/>
        </p:nvSpPr>
        <p:spPr>
          <a:xfrm>
            <a:off x="685800" y="363924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594360" y="37674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Árvores de possibilidades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594360" y="4069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nem sempre viáveis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card"/>
          <p:cNvSpPr/>
          <p:nvPr/>
        </p:nvSpPr>
        <p:spPr>
          <a:xfrm>
            <a:off x="2971800" y="3639240"/>
            <a:ext cx="2422800" cy="978120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card-accent"/>
          <p:cNvSpPr/>
          <p:nvPr/>
        </p:nvSpPr>
        <p:spPr>
          <a:xfrm>
            <a:off x="3200400" y="363924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3108960" y="37674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Heurísticas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3108960" y="4069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regras/métodos → descobertas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Robô pensando"/>
          <p:cNvPicPr/>
          <p:nvPr/>
        </p:nvPicPr>
        <p:blipFill>
          <a:blip r:embed="rId1"/>
          <a:stretch/>
        </p:blipFill>
        <p:spPr>
          <a:xfrm>
            <a:off x="5669280" y="1143000"/>
            <a:ext cx="3017160" cy="178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hoto-card"/>
          <p:cNvSpPr/>
          <p:nvPr/>
        </p:nvSpPr>
        <p:spPr>
          <a:xfrm>
            <a:off x="5669280" y="3063240"/>
            <a:ext cx="3017160" cy="15541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Árvore de possibilidades cara e coroa"/>
          <p:cNvPicPr/>
          <p:nvPr/>
        </p:nvPicPr>
        <p:blipFill>
          <a:blip r:embed="rId2"/>
          <a:stretch/>
        </p:blipFill>
        <p:spPr>
          <a:xfrm>
            <a:off x="6230160" y="3108960"/>
            <a:ext cx="189540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 type="sldNum" idx="8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7A3BEF-3C4C-4B96-9898-A2DE6598A3D3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Questões filosóficas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457200" y="1051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Pensando, elas podem se voltar contra nós?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Robô com olhos vermelhos"/>
          <p:cNvPicPr/>
          <p:nvPr/>
        </p:nvPicPr>
        <p:blipFill>
          <a:blip r:embed="rId1"/>
          <a:stretch/>
        </p:blipFill>
        <p:spPr>
          <a:xfrm>
            <a:off x="457200" y="1645920"/>
            <a:ext cx="210276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card"/>
          <p:cNvSpPr/>
          <p:nvPr/>
        </p:nvSpPr>
        <p:spPr>
          <a:xfrm>
            <a:off x="2743200" y="1645920"/>
            <a:ext cx="5943240" cy="91404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ard-accent"/>
          <p:cNvSpPr/>
          <p:nvPr/>
        </p:nvSpPr>
        <p:spPr>
          <a:xfrm>
            <a:off x="2971800" y="16459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num-badge"/>
          <p:cNvSpPr/>
          <p:nvPr/>
        </p:nvSpPr>
        <p:spPr>
          <a:xfrm>
            <a:off x="2926080" y="185616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2926080" y="1856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1ª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3611880" y="169164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Lei: Um robô não pode ferir um ser humano ou, por inação, permitir que um ser humano sofra algum mal.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card"/>
          <p:cNvSpPr/>
          <p:nvPr/>
        </p:nvSpPr>
        <p:spPr>
          <a:xfrm>
            <a:off x="2743200" y="2651760"/>
            <a:ext cx="5943240" cy="91404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card-accent"/>
          <p:cNvSpPr/>
          <p:nvPr/>
        </p:nvSpPr>
        <p:spPr>
          <a:xfrm>
            <a:off x="2971800" y="265176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num-badge"/>
          <p:cNvSpPr/>
          <p:nvPr/>
        </p:nvSpPr>
        <p:spPr>
          <a:xfrm>
            <a:off x="2926080" y="2862000"/>
            <a:ext cx="502560" cy="5025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2926080" y="2862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2ª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3611880" y="269748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Lei: Um robô deve obedecer às ordens que lhe sejam dadas por seres humanos, exceto nos casos em que tais ordens entrem em conflito com a Primeira Lei.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card"/>
          <p:cNvSpPr/>
          <p:nvPr/>
        </p:nvSpPr>
        <p:spPr>
          <a:xfrm>
            <a:off x="2743200" y="3657600"/>
            <a:ext cx="5943240" cy="91404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card-accent"/>
          <p:cNvSpPr/>
          <p:nvPr/>
        </p:nvSpPr>
        <p:spPr>
          <a:xfrm>
            <a:off x="2971800" y="36576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num-badge"/>
          <p:cNvSpPr/>
          <p:nvPr/>
        </p:nvSpPr>
        <p:spPr>
          <a:xfrm>
            <a:off x="2926080" y="3867840"/>
            <a:ext cx="502560" cy="5025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2926080" y="3867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3ª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3611880" y="370332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Lei: Um robô deve proteger sua própria existência, desde que tal proteção não entre em conflito com a Primeira ou Segunda Leis.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9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33CCF4-514C-41F1-A39E-901611EDFCF1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Teste de Turing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Image 0" descr="Alan Turing"/>
          <p:cNvPicPr/>
          <p:nvPr/>
        </p:nvPicPr>
        <p:blipFill>
          <a:blip r:embed="rId1"/>
          <a:stretch/>
        </p:blipFill>
        <p:spPr>
          <a:xfrm>
            <a:off x="457200" y="1143000"/>
            <a:ext cx="2468520" cy="20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card"/>
          <p:cNvSpPr/>
          <p:nvPr/>
        </p:nvSpPr>
        <p:spPr>
          <a:xfrm>
            <a:off x="457200" y="3291840"/>
            <a:ext cx="2468520" cy="132552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card-accent"/>
          <p:cNvSpPr/>
          <p:nvPr/>
        </p:nvSpPr>
        <p:spPr>
          <a:xfrm>
            <a:off x="685800" y="329184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640080" y="34747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OBJETIVO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Determinar se uma máquina é capaz de imitar a inteligência humana.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3200400" y="10972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CRITÉRIOS PARA UMA MÁQUINA INTELIGENTE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card"/>
          <p:cNvSpPr/>
          <p:nvPr/>
        </p:nvSpPr>
        <p:spPr>
          <a:xfrm>
            <a:off x="3200400" y="1417320"/>
            <a:ext cx="2697120" cy="9597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card-accent"/>
          <p:cNvSpPr/>
          <p:nvPr/>
        </p:nvSpPr>
        <p:spPr>
          <a:xfrm>
            <a:off x="3429000" y="14173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3337560" y="1536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Processamento de Linguagem Natural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3337560" y="198432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Comunicar-se com fluência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card"/>
          <p:cNvSpPr/>
          <p:nvPr/>
        </p:nvSpPr>
        <p:spPr>
          <a:xfrm>
            <a:off x="5989320" y="1417320"/>
            <a:ext cx="2697120" cy="9597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card-accent"/>
          <p:cNvSpPr/>
          <p:nvPr/>
        </p:nvSpPr>
        <p:spPr>
          <a:xfrm>
            <a:off x="6217920" y="14173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6126480" y="1536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Representação de Conhecimento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6126480" y="198432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Armazenar e utilizar informações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card"/>
          <p:cNvSpPr/>
          <p:nvPr/>
        </p:nvSpPr>
        <p:spPr>
          <a:xfrm>
            <a:off x="3200400" y="2468880"/>
            <a:ext cx="2697120" cy="9597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card-accent"/>
          <p:cNvSpPr/>
          <p:nvPr/>
        </p:nvSpPr>
        <p:spPr>
          <a:xfrm>
            <a:off x="3429000" y="246888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3337560" y="25876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Raciocínio Automático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3337560" y="30358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Tomar decisões com lógica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card"/>
          <p:cNvSpPr/>
          <p:nvPr/>
        </p:nvSpPr>
        <p:spPr>
          <a:xfrm>
            <a:off x="5989320" y="2468880"/>
            <a:ext cx="2697120" cy="9597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card-accent"/>
          <p:cNvSpPr/>
          <p:nvPr/>
        </p:nvSpPr>
        <p:spPr>
          <a:xfrm>
            <a:off x="6217920" y="246888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6126480" y="25876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Aprendizado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6126480" y="30358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Melhorar com experiência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3200400" y="36118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TECNOLOGIAS ASSOCIADAS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card"/>
          <p:cNvSpPr/>
          <p:nvPr/>
        </p:nvSpPr>
        <p:spPr>
          <a:xfrm>
            <a:off x="3200400" y="3913560"/>
            <a:ext cx="2697120" cy="703800"/>
          </a:xfrm>
          <a:prstGeom prst="roundRect">
            <a:avLst>
              <a:gd name="adj" fmla="val 15584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card-accent"/>
          <p:cNvSpPr/>
          <p:nvPr/>
        </p:nvSpPr>
        <p:spPr>
          <a:xfrm>
            <a:off x="3429000" y="391356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4"/>
          <p:cNvSpPr/>
          <p:nvPr/>
        </p:nvSpPr>
        <p:spPr>
          <a:xfrm>
            <a:off x="3337560" y="399600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Visão Computacional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3337560" y="42703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Reconhecimento e interpretação de imagens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card"/>
          <p:cNvSpPr/>
          <p:nvPr/>
        </p:nvSpPr>
        <p:spPr>
          <a:xfrm>
            <a:off x="5989320" y="3913560"/>
            <a:ext cx="2697120" cy="703800"/>
          </a:xfrm>
          <a:prstGeom prst="roundRect">
            <a:avLst>
              <a:gd name="adj" fmla="val 15584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card-accent"/>
          <p:cNvSpPr/>
          <p:nvPr/>
        </p:nvSpPr>
        <p:spPr>
          <a:xfrm>
            <a:off x="6217920" y="3913560"/>
            <a:ext cx="548280" cy="4536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6126480" y="399600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Robótica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6126480" y="42703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Interação física com o mundo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ldNum" idx="10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95AEBE-1890-499E-8529-EE5216F7FA41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Robô Ed: bate-papo com uma máquina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Image 0" descr="Robô Ed"/>
          <p:cNvPicPr/>
          <p:nvPr/>
        </p:nvPicPr>
        <p:blipFill>
          <a:blip r:embed="rId1"/>
          <a:stretch/>
        </p:blipFill>
        <p:spPr>
          <a:xfrm>
            <a:off x="462960" y="1188720"/>
            <a:ext cx="1816920" cy="242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1"/>
          <p:cNvSpPr/>
          <p:nvPr/>
        </p:nvSpPr>
        <p:spPr>
          <a:xfrm>
            <a:off x="457200" y="3657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Robô Ed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bubble-user"/>
          <p:cNvSpPr/>
          <p:nvPr/>
        </p:nvSpPr>
        <p:spPr>
          <a:xfrm>
            <a:off x="5394960" y="1188720"/>
            <a:ext cx="3291480" cy="420120"/>
          </a:xfrm>
          <a:prstGeom prst="roundRect">
            <a:avLst>
              <a:gd name="adj" fmla="val 34783"/>
            </a:avLst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559480" y="118872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Oi Ed, você gosta de esportes?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bubble-ed"/>
          <p:cNvSpPr/>
          <p:nvPr/>
        </p:nvSpPr>
        <p:spPr>
          <a:xfrm>
            <a:off x="2560320" y="1728360"/>
            <a:ext cx="4114440" cy="420120"/>
          </a:xfrm>
          <a:prstGeom prst="roundRect">
            <a:avLst>
              <a:gd name="adj" fmla="val 34783"/>
            </a:avLst>
          </a:prstGeom>
          <a:solidFill>
            <a:schemeClr val="tx2"/>
          </a:solidFill>
          <a:ln w="1270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2724840" y="1728360"/>
            <a:ext cx="3785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Sobre que esporte você quer conversar?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bubble-user"/>
          <p:cNvSpPr/>
          <p:nvPr/>
        </p:nvSpPr>
        <p:spPr>
          <a:xfrm>
            <a:off x="5394960" y="2267640"/>
            <a:ext cx="3291480" cy="420120"/>
          </a:xfrm>
          <a:prstGeom prst="roundRect">
            <a:avLst>
              <a:gd name="adj" fmla="val 34783"/>
            </a:avLst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5559480" y="226764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futebol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bubble-ed"/>
          <p:cNvSpPr/>
          <p:nvPr/>
        </p:nvSpPr>
        <p:spPr>
          <a:xfrm>
            <a:off x="2560320" y="2807280"/>
            <a:ext cx="4114440" cy="639720"/>
          </a:xfrm>
          <a:prstGeom prst="roundRect">
            <a:avLst>
              <a:gd name="adj" fmla="val 22857"/>
            </a:avLst>
          </a:prstGeom>
          <a:solidFill>
            <a:schemeClr val="tx2"/>
          </a:solidFill>
          <a:ln w="1270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2724840" y="2807280"/>
            <a:ext cx="3785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Não sou muito ligado em futebol, mas acho um bate bola legal.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bubble-user"/>
          <p:cNvSpPr/>
          <p:nvPr/>
        </p:nvSpPr>
        <p:spPr>
          <a:xfrm>
            <a:off x="5394960" y="3566160"/>
            <a:ext cx="3291480" cy="420120"/>
          </a:xfrm>
          <a:prstGeom prst="roundRect">
            <a:avLst>
              <a:gd name="adj" fmla="val 34783"/>
            </a:avLst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5559480" y="3566160"/>
            <a:ext cx="2962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Você torce para algum time?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bubble-ed"/>
          <p:cNvSpPr/>
          <p:nvPr/>
        </p:nvSpPr>
        <p:spPr>
          <a:xfrm>
            <a:off x="2560320" y="4105800"/>
            <a:ext cx="4114440" cy="420120"/>
          </a:xfrm>
          <a:prstGeom prst="roundRect">
            <a:avLst>
              <a:gd name="adj" fmla="val 34783"/>
            </a:avLst>
          </a:prstGeom>
          <a:solidFill>
            <a:schemeClr val="tx2"/>
          </a:solidFill>
          <a:ln w="1270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2724840" y="4105800"/>
            <a:ext cx="3785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Torço pelo Brasil! E você?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ldNum" idx="11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5181C4-7EEB-4DE4-A410-66F5AB208C0D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Robô Ed: e a crise econômica?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9" name="Image 0" descr="Robô Ed"/>
          <p:cNvPicPr/>
          <p:nvPr/>
        </p:nvPicPr>
        <p:blipFill>
          <a:blip r:embed="rId1"/>
          <a:stretch/>
        </p:blipFill>
        <p:spPr>
          <a:xfrm>
            <a:off x="462960" y="1188720"/>
            <a:ext cx="1816920" cy="242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1"/>
          <p:cNvSpPr/>
          <p:nvPr/>
        </p:nvSpPr>
        <p:spPr>
          <a:xfrm>
            <a:off x="457200" y="3657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Robô Ed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bubble-user"/>
          <p:cNvSpPr/>
          <p:nvPr/>
        </p:nvSpPr>
        <p:spPr>
          <a:xfrm>
            <a:off x="3840480" y="1188720"/>
            <a:ext cx="4845960" cy="502560"/>
          </a:xfrm>
          <a:prstGeom prst="roundRect">
            <a:avLst>
              <a:gd name="adj" fmla="val 29091"/>
            </a:avLst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005000" y="1188720"/>
            <a:ext cx="451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você acha desta crise econômica mundial?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bubble-ed"/>
          <p:cNvSpPr/>
          <p:nvPr/>
        </p:nvSpPr>
        <p:spPr>
          <a:xfrm>
            <a:off x="2560320" y="1828800"/>
            <a:ext cx="5486040" cy="18284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2724840" y="1828800"/>
            <a:ext cx="51570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As crises econômicas costumam deixar as pessoas preocupadas, mas depois de algum tempo a economia vai se recuperando. Há coisas muito mais difíceis de se recuperar. Os danos feitos à natureza, por exemplo. Sabe quanto tempo uma reles latinha jogada no mato demora para se decompor?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card"/>
          <p:cNvSpPr/>
          <p:nvPr/>
        </p:nvSpPr>
        <p:spPr>
          <a:xfrm>
            <a:off x="2560320" y="3886200"/>
            <a:ext cx="6126120" cy="7311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card-accent"/>
          <p:cNvSpPr/>
          <p:nvPr/>
        </p:nvSpPr>
        <p:spPr>
          <a:xfrm>
            <a:off x="2788920" y="388620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2743200" y="3931920"/>
            <a:ext cx="5760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Resposta de humano ou de máquina? Esse é o espírito do Teste de Turing.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12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30B44A-8FA9-4E8E-97C6-338FCD5ED92A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Teste de Turing na prática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card"/>
          <p:cNvSpPr/>
          <p:nvPr/>
        </p:nvSpPr>
        <p:spPr>
          <a:xfrm>
            <a:off x="457200" y="1143000"/>
            <a:ext cx="4023000" cy="35200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685800" y="1280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BotPrize 2012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685800" y="1737360"/>
            <a:ext cx="3611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Competição de IA em homenagem aos 100 anos de Alan Turing.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Tema: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“Podem os computadores jogar como humanos?”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Vencedor: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jogador virtual com IA, que imitou o estilo humano ao jogar.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685800" y="352044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US$ 7.000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685800" y="4069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prêmio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0" descr="Jogo com bots do BotPrize"/>
          <p:cNvPicPr/>
          <p:nvPr/>
        </p:nvPicPr>
        <p:blipFill>
          <a:blip r:embed="rId1"/>
          <a:stretch/>
        </p:blipFill>
        <p:spPr>
          <a:xfrm>
            <a:off x="2926080" y="3474720"/>
            <a:ext cx="137124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card"/>
          <p:cNvSpPr/>
          <p:nvPr/>
        </p:nvSpPr>
        <p:spPr>
          <a:xfrm>
            <a:off x="4663440" y="1143000"/>
            <a:ext cx="4023000" cy="35200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card-accent"/>
          <p:cNvSpPr/>
          <p:nvPr/>
        </p:nvSpPr>
        <p:spPr>
          <a:xfrm>
            <a:off x="4892040" y="11430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4892040" y="1280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Prêmio Loebner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4892040" y="1737360"/>
            <a:ext cx="3611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Teste inspirado no Teste de Turing original.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Objetivo: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determinar qual IA melhor reproduz a conversa humana.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Método: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 juízes participam de conversas simultâneas com uma pessoa e uma máquina.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Desafio: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enganar os juízes a ponto de parecer humano.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4892040" y="37033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US$ 100.000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4892040" y="4251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grande prêmio se a IA enganar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ldNum" idx="13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4949A-9CD9-446B-8923-652D927C3A81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limite da máquina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card"/>
          <p:cNvSpPr/>
          <p:nvPr/>
        </p:nvSpPr>
        <p:spPr>
          <a:xfrm>
            <a:off x="457200" y="1143000"/>
            <a:ext cx="5028840" cy="159984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685800" y="1261800"/>
            <a:ext cx="4571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9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“... só faz o que é programada para fazer”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Mas será que não pode aprender, pensar, criar?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card"/>
          <p:cNvSpPr/>
          <p:nvPr/>
        </p:nvSpPr>
        <p:spPr>
          <a:xfrm>
            <a:off x="5669280" y="1143000"/>
            <a:ext cx="3017160" cy="159984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card-accent"/>
          <p:cNvSpPr/>
          <p:nvPr/>
        </p:nvSpPr>
        <p:spPr>
          <a:xfrm>
            <a:off x="589788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5806440" y="1234440"/>
            <a:ext cx="27885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Herbert Simon (1960)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“O homem pode pensar, aprender, criar porque seu programa biológico o capacita...” (incluindo a habilidade de modificar seu próprio programa)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57200" y="28803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POSSIBILIDADES PARA UMA MÁQUINA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card"/>
          <p:cNvSpPr/>
          <p:nvPr/>
        </p:nvSpPr>
        <p:spPr>
          <a:xfrm>
            <a:off x="457200" y="3200400"/>
            <a:ext cx="1965600" cy="141696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card-accent"/>
          <p:cNvSpPr/>
          <p:nvPr/>
        </p:nvSpPr>
        <p:spPr>
          <a:xfrm>
            <a:off x="685800" y="32004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576000" y="33375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Autoanálise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576000" y="365760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Avaliação própria para detectar erros ou limitações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card"/>
          <p:cNvSpPr/>
          <p:nvPr/>
        </p:nvSpPr>
        <p:spPr>
          <a:xfrm>
            <a:off x="2560320" y="3200400"/>
            <a:ext cx="1965600" cy="141696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card-accent"/>
          <p:cNvSpPr/>
          <p:nvPr/>
        </p:nvSpPr>
        <p:spPr>
          <a:xfrm>
            <a:off x="2788920" y="320040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2679120" y="33375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Autodiagnóstico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2679120" y="365760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Identificação de problemas e estado atual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card"/>
          <p:cNvSpPr/>
          <p:nvPr/>
        </p:nvSpPr>
        <p:spPr>
          <a:xfrm>
            <a:off x="4663440" y="3200400"/>
            <a:ext cx="1965600" cy="141696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card-accent"/>
          <p:cNvSpPr/>
          <p:nvPr/>
        </p:nvSpPr>
        <p:spPr>
          <a:xfrm>
            <a:off x="4892040" y="32004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4782240" y="33375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Autocorreção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4782240" y="365760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Capacidade de corrigir falhas por conta própria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card"/>
          <p:cNvSpPr/>
          <p:nvPr/>
        </p:nvSpPr>
        <p:spPr>
          <a:xfrm>
            <a:off x="6766560" y="3200400"/>
            <a:ext cx="1965600" cy="141696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card-accent"/>
          <p:cNvSpPr/>
          <p:nvPr/>
        </p:nvSpPr>
        <p:spPr>
          <a:xfrm>
            <a:off x="6995160" y="320040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2"/>
          <p:cNvSpPr/>
          <p:nvPr/>
        </p:nvSpPr>
        <p:spPr>
          <a:xfrm>
            <a:off x="6885360" y="33375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Autoaperfeiçoamento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3"/>
          <p:cNvSpPr/>
          <p:nvPr/>
        </p:nvSpPr>
        <p:spPr>
          <a:xfrm>
            <a:off x="6885360" y="365760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Melhoria contínua em busca de mais eficiência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14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D307A6-70D6-4606-9475-25EA813BCDA1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IA no dia a dia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card"/>
          <p:cNvSpPr/>
          <p:nvPr/>
        </p:nvSpPr>
        <p:spPr>
          <a:xfrm>
            <a:off x="457200" y="1188720"/>
            <a:ext cx="2651400" cy="3428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icon-badge"/>
          <p:cNvSpPr/>
          <p:nvPr/>
        </p:nvSpPr>
        <p:spPr>
          <a:xfrm>
            <a:off x="685800" y="1371600"/>
            <a:ext cx="658080" cy="658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0" descr="ícone"/>
          <p:cNvPicPr/>
          <p:nvPr/>
        </p:nvPicPr>
        <p:blipFill>
          <a:blip r:embed="rId1"/>
          <a:stretch/>
        </p:blipFill>
        <p:spPr>
          <a:xfrm>
            <a:off x="850320" y="15361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4"/>
          <p:cNvSpPr/>
          <p:nvPr/>
        </p:nvSpPr>
        <p:spPr>
          <a:xfrm>
            <a:off x="68580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Reconhecimento facial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685800" y="2606040"/>
            <a:ext cx="22399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Permite encontrar um rosto em meio à multidão.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Ferramenta em uso pelas agências de combate ao terrorismo.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card"/>
          <p:cNvSpPr/>
          <p:nvPr/>
        </p:nvSpPr>
        <p:spPr>
          <a:xfrm>
            <a:off x="3246120" y="1188720"/>
            <a:ext cx="2651400" cy="3428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card-accent"/>
          <p:cNvSpPr/>
          <p:nvPr/>
        </p:nvSpPr>
        <p:spPr>
          <a:xfrm>
            <a:off x="3474720" y="1188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icon-badge"/>
          <p:cNvSpPr/>
          <p:nvPr/>
        </p:nvSpPr>
        <p:spPr>
          <a:xfrm>
            <a:off x="3474720" y="1371600"/>
            <a:ext cx="658080" cy="6580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1" descr="ícone"/>
          <p:cNvPicPr/>
          <p:nvPr/>
        </p:nvPicPr>
        <p:blipFill>
          <a:blip r:embed="rId2"/>
          <a:stretch/>
        </p:blipFill>
        <p:spPr>
          <a:xfrm>
            <a:off x="3639240" y="15361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9"/>
          <p:cNvSpPr/>
          <p:nvPr/>
        </p:nvSpPr>
        <p:spPr>
          <a:xfrm>
            <a:off x="347472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Data security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3474720" y="2606040"/>
            <a:ext cx="22399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Segurança de dados na internet.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tecnologia ajuda a detectar 325 mil novos vírus (malware) todos os dias.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internauta navega e paga as compras com segurança.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card"/>
          <p:cNvSpPr/>
          <p:nvPr/>
        </p:nvSpPr>
        <p:spPr>
          <a:xfrm>
            <a:off x="6035040" y="1188720"/>
            <a:ext cx="2651400" cy="3428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card-accent"/>
          <p:cNvSpPr/>
          <p:nvPr/>
        </p:nvSpPr>
        <p:spPr>
          <a:xfrm>
            <a:off x="6263640" y="11887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icon-badge"/>
          <p:cNvSpPr/>
          <p:nvPr/>
        </p:nvSpPr>
        <p:spPr>
          <a:xfrm>
            <a:off x="6263640" y="1371600"/>
            <a:ext cx="658080" cy="6580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2" descr="ícone"/>
          <p:cNvPicPr/>
          <p:nvPr/>
        </p:nvPicPr>
        <p:blipFill>
          <a:blip r:embed="rId3"/>
          <a:stretch/>
        </p:blipFill>
        <p:spPr>
          <a:xfrm>
            <a:off x="6428160" y="15361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14"/>
          <p:cNvSpPr/>
          <p:nvPr/>
        </p:nvSpPr>
        <p:spPr>
          <a:xfrm>
            <a:off x="626364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Recomendações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5"/>
          <p:cNvSpPr/>
          <p:nvPr/>
        </p:nvSpPr>
        <p:spPr>
          <a:xfrm>
            <a:off x="6263640" y="2606040"/>
            <a:ext cx="22399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ferramenta analisa o comportamento de compra e interesses do internauta e compara com milhares de outros consumidores para identificar qual será sua próxima compra ou o filme que irá assistir. E surpreende com um convite antecipado ou mais informações sobre o produto desejado.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sldNum" idx="15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8F5790-9F1C-419F-995F-DCD38C690884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Evolução da IA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imeline"/>
          <p:cNvSpPr/>
          <p:nvPr/>
        </p:nvSpPr>
        <p:spPr>
          <a:xfrm>
            <a:off x="457200" y="2880360"/>
            <a:ext cx="8229600" cy="360"/>
          </a:xfrm>
          <a:prstGeom prst="line">
            <a:avLst/>
          </a:prstGeom>
          <a:ln w="25400">
            <a:solidFill>
              <a:srgbClr val="C9D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tem"/>
          <p:cNvSpPr/>
          <p:nvPr/>
        </p:nvSpPr>
        <p:spPr>
          <a:xfrm>
            <a:off x="1143000" y="2514600"/>
            <a:ext cx="360" cy="365760"/>
          </a:xfrm>
          <a:prstGeom prst="line">
            <a:avLst/>
          </a:prstGeom>
          <a:ln w="1905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card"/>
          <p:cNvSpPr/>
          <p:nvPr/>
        </p:nvSpPr>
        <p:spPr>
          <a:xfrm>
            <a:off x="457200" y="1188720"/>
            <a:ext cx="2194200" cy="132552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567000" y="1298520"/>
            <a:ext cx="1974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Conferência de Dartmouth marca o nascimento da Inteligência Artificial como um campo de estudo formal.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year-node"/>
          <p:cNvSpPr/>
          <p:nvPr/>
        </p:nvSpPr>
        <p:spPr>
          <a:xfrm>
            <a:off x="831960" y="2569320"/>
            <a:ext cx="621360" cy="6213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831960" y="2569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1956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tem"/>
          <p:cNvSpPr/>
          <p:nvPr/>
        </p:nvSpPr>
        <p:spPr>
          <a:xfrm>
            <a:off x="2514600" y="2880360"/>
            <a:ext cx="360" cy="594360"/>
          </a:xfrm>
          <a:prstGeom prst="line">
            <a:avLst/>
          </a:prstGeom>
          <a:ln w="1905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card"/>
          <p:cNvSpPr/>
          <p:nvPr/>
        </p:nvSpPr>
        <p:spPr>
          <a:xfrm>
            <a:off x="1417320" y="3474720"/>
            <a:ext cx="2194200" cy="1188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card-accent"/>
          <p:cNvSpPr/>
          <p:nvPr/>
        </p:nvSpPr>
        <p:spPr>
          <a:xfrm>
            <a:off x="1645920" y="3474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1527120" y="3584520"/>
            <a:ext cx="1974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programa ELIZA é desenvolvido, simulando uma conversa humana e demonstrando as primeiras interações em linguagem natural.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year-node"/>
          <p:cNvSpPr/>
          <p:nvPr/>
        </p:nvSpPr>
        <p:spPr>
          <a:xfrm>
            <a:off x="2203560" y="2569320"/>
            <a:ext cx="621360" cy="6213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2203560" y="2569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1966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tem"/>
          <p:cNvSpPr/>
          <p:nvPr/>
        </p:nvSpPr>
        <p:spPr>
          <a:xfrm>
            <a:off x="3886200" y="2514600"/>
            <a:ext cx="360" cy="365760"/>
          </a:xfrm>
          <a:prstGeom prst="line">
            <a:avLst/>
          </a:prstGeom>
          <a:ln w="1905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card"/>
          <p:cNvSpPr/>
          <p:nvPr/>
        </p:nvSpPr>
        <p:spPr>
          <a:xfrm>
            <a:off x="2788920" y="1188720"/>
            <a:ext cx="2194200" cy="132552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card-accent"/>
          <p:cNvSpPr/>
          <p:nvPr/>
        </p:nvSpPr>
        <p:spPr>
          <a:xfrm>
            <a:off x="3017520" y="11887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2898720" y="1298520"/>
            <a:ext cx="1974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Surge o conceito de redes neurais, revitalizando o interesse em IA com a capacidade de aprender a partir de dados.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year-node"/>
          <p:cNvSpPr/>
          <p:nvPr/>
        </p:nvSpPr>
        <p:spPr>
          <a:xfrm>
            <a:off x="3575160" y="2569320"/>
            <a:ext cx="621360" cy="6213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3575160" y="2569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1980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tem"/>
          <p:cNvSpPr/>
          <p:nvPr/>
        </p:nvSpPr>
        <p:spPr>
          <a:xfrm>
            <a:off x="5257800" y="2880360"/>
            <a:ext cx="360" cy="594360"/>
          </a:xfrm>
          <a:prstGeom prst="line">
            <a:avLst/>
          </a:prstGeom>
          <a:ln w="1905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card"/>
          <p:cNvSpPr/>
          <p:nvPr/>
        </p:nvSpPr>
        <p:spPr>
          <a:xfrm>
            <a:off x="4160520" y="3474720"/>
            <a:ext cx="2194200" cy="1188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card-accent"/>
          <p:cNvSpPr/>
          <p:nvPr/>
        </p:nvSpPr>
        <p:spPr>
          <a:xfrm>
            <a:off x="4389120" y="34747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3"/>
          <p:cNvSpPr/>
          <p:nvPr/>
        </p:nvSpPr>
        <p:spPr>
          <a:xfrm>
            <a:off x="4270320" y="3584520"/>
            <a:ext cx="1974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computador Deep Blue venceu o campeão mundial de xadrez Garry Kasparov, mostrando o potencial da IA em jogos complexos.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year-node"/>
          <p:cNvSpPr/>
          <p:nvPr/>
        </p:nvSpPr>
        <p:spPr>
          <a:xfrm>
            <a:off x="4946760" y="2569320"/>
            <a:ext cx="621360" cy="62136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4946760" y="2569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1997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tem"/>
          <p:cNvSpPr/>
          <p:nvPr/>
        </p:nvSpPr>
        <p:spPr>
          <a:xfrm>
            <a:off x="6629400" y="2514600"/>
            <a:ext cx="360" cy="365760"/>
          </a:xfrm>
          <a:prstGeom prst="line">
            <a:avLst/>
          </a:prstGeom>
          <a:ln w="1905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card"/>
          <p:cNvSpPr/>
          <p:nvPr/>
        </p:nvSpPr>
        <p:spPr>
          <a:xfrm>
            <a:off x="5532120" y="1188720"/>
            <a:ext cx="2194200" cy="132552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card-accent"/>
          <p:cNvSpPr/>
          <p:nvPr/>
        </p:nvSpPr>
        <p:spPr>
          <a:xfrm>
            <a:off x="5760720" y="118872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9"/>
          <p:cNvSpPr/>
          <p:nvPr/>
        </p:nvSpPr>
        <p:spPr>
          <a:xfrm>
            <a:off x="5641920" y="1298520"/>
            <a:ext cx="1974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revolução do aprendizado profundo (deep learning) começa, impulsionando avanços significativos em reconhecimento de imagem e voz.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year-node"/>
          <p:cNvSpPr/>
          <p:nvPr/>
        </p:nvSpPr>
        <p:spPr>
          <a:xfrm>
            <a:off x="6318360" y="2569320"/>
            <a:ext cx="621360" cy="621360"/>
          </a:xfrm>
          <a:prstGeom prst="ellipse">
            <a:avLst/>
          </a:prstGeom>
          <a:solidFill>
            <a:schemeClr val="accent5"/>
          </a:solidFill>
          <a:ln w="381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1"/>
          <p:cNvSpPr/>
          <p:nvPr/>
        </p:nvSpPr>
        <p:spPr>
          <a:xfrm>
            <a:off x="6318360" y="2569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2012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tem"/>
          <p:cNvSpPr/>
          <p:nvPr/>
        </p:nvSpPr>
        <p:spPr>
          <a:xfrm>
            <a:off x="8001000" y="2880360"/>
            <a:ext cx="360" cy="594360"/>
          </a:xfrm>
          <a:prstGeom prst="line">
            <a:avLst/>
          </a:prstGeom>
          <a:ln w="1905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card"/>
          <p:cNvSpPr/>
          <p:nvPr/>
        </p:nvSpPr>
        <p:spPr>
          <a:xfrm>
            <a:off x="6492240" y="3474720"/>
            <a:ext cx="2194200" cy="1188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card-accent"/>
          <p:cNvSpPr/>
          <p:nvPr/>
        </p:nvSpPr>
        <p:spPr>
          <a:xfrm>
            <a:off x="6720840" y="3474720"/>
            <a:ext cx="548280" cy="4536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5"/>
          <p:cNvSpPr/>
          <p:nvPr/>
        </p:nvSpPr>
        <p:spPr>
          <a:xfrm>
            <a:off x="6602040" y="3584520"/>
            <a:ext cx="1974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IA generativa, como o ChatGPT, transforma a interação humano-máquina, permitindo conversas mais naturais e criativas.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year-node"/>
          <p:cNvSpPr/>
          <p:nvPr/>
        </p:nvSpPr>
        <p:spPr>
          <a:xfrm>
            <a:off x="7689960" y="2569320"/>
            <a:ext cx="621360" cy="621360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0B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7"/>
          <p:cNvSpPr/>
          <p:nvPr/>
        </p:nvSpPr>
        <p:spPr>
          <a:xfrm>
            <a:off x="7689960" y="2569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2023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ldNum" idx="16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3BA212-3A5F-4268-B212-650BF81EC732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Como funciona uma IA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card"/>
          <p:cNvSpPr/>
          <p:nvPr/>
        </p:nvSpPr>
        <p:spPr>
          <a:xfrm>
            <a:off x="457200" y="1143000"/>
            <a:ext cx="8229240" cy="91404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731520" y="118872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IA aprende observando e analisando muitas informações para encontrar padrões.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457200" y="228600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EXEMPLO: VÍDEOS DE GATOS NO YOUTUBE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card"/>
          <p:cNvSpPr/>
          <p:nvPr/>
        </p:nvSpPr>
        <p:spPr>
          <a:xfrm>
            <a:off x="457200" y="2651760"/>
            <a:ext cx="2377080" cy="196560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card-accent"/>
          <p:cNvSpPr/>
          <p:nvPr/>
        </p:nvSpPr>
        <p:spPr>
          <a:xfrm>
            <a:off x="685800" y="265176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icon-badge"/>
          <p:cNvSpPr/>
          <p:nvPr/>
        </p:nvSpPr>
        <p:spPr>
          <a:xfrm>
            <a:off x="640080" y="283464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ícone"/>
          <p:cNvPicPr/>
          <p:nvPr/>
        </p:nvPicPr>
        <p:blipFill>
          <a:blip r:embed="rId1"/>
          <a:stretch/>
        </p:blipFill>
        <p:spPr>
          <a:xfrm>
            <a:off x="777240" y="2971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8"/>
          <p:cNvSpPr/>
          <p:nvPr/>
        </p:nvSpPr>
        <p:spPr>
          <a:xfrm>
            <a:off x="1280160" y="28346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Usuário acessa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640080" y="3520440"/>
            <a:ext cx="2057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usuário assiste a alguns vídeos sobre gatos no YouTube.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arrow"/>
          <p:cNvSpPr/>
          <p:nvPr/>
        </p:nvSpPr>
        <p:spPr>
          <a:xfrm>
            <a:off x="2971800" y="347472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C9D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card"/>
          <p:cNvSpPr/>
          <p:nvPr/>
        </p:nvSpPr>
        <p:spPr>
          <a:xfrm>
            <a:off x="3383280" y="2651760"/>
            <a:ext cx="2377080" cy="196560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card-accent"/>
          <p:cNvSpPr/>
          <p:nvPr/>
        </p:nvSpPr>
        <p:spPr>
          <a:xfrm>
            <a:off x="3611880" y="265176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icon-badge"/>
          <p:cNvSpPr/>
          <p:nvPr/>
        </p:nvSpPr>
        <p:spPr>
          <a:xfrm>
            <a:off x="3566160" y="2834640"/>
            <a:ext cx="548280" cy="5482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1" descr="ícone"/>
          <p:cNvPicPr/>
          <p:nvPr/>
        </p:nvPicPr>
        <p:blipFill>
          <a:blip r:embed="rId2"/>
          <a:stretch/>
        </p:blipFill>
        <p:spPr>
          <a:xfrm>
            <a:off x="3703320" y="2971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14"/>
          <p:cNvSpPr/>
          <p:nvPr/>
        </p:nvSpPr>
        <p:spPr>
          <a:xfrm>
            <a:off x="4206240" y="28346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IA analisa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3566160" y="3520440"/>
            <a:ext cx="2057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IA analisa essas interações e encontra padrões.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arrow"/>
          <p:cNvSpPr/>
          <p:nvPr/>
        </p:nvSpPr>
        <p:spPr>
          <a:xfrm>
            <a:off x="5897880" y="347472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C9D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card"/>
          <p:cNvSpPr/>
          <p:nvPr/>
        </p:nvSpPr>
        <p:spPr>
          <a:xfrm>
            <a:off x="6309360" y="2651760"/>
            <a:ext cx="2377080" cy="196560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card-accent"/>
          <p:cNvSpPr/>
          <p:nvPr/>
        </p:nvSpPr>
        <p:spPr>
          <a:xfrm>
            <a:off x="6537960" y="265176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icon-badge"/>
          <p:cNvSpPr/>
          <p:nvPr/>
        </p:nvSpPr>
        <p:spPr>
          <a:xfrm>
            <a:off x="6492240" y="2834640"/>
            <a:ext cx="548280" cy="5482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0" name="Image 2" descr="ícone"/>
          <p:cNvPicPr/>
          <p:nvPr/>
        </p:nvPicPr>
        <p:blipFill>
          <a:blip r:embed="rId3"/>
          <a:stretch/>
        </p:blipFill>
        <p:spPr>
          <a:xfrm>
            <a:off x="6629400" y="2971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 20"/>
          <p:cNvSpPr/>
          <p:nvPr/>
        </p:nvSpPr>
        <p:spPr>
          <a:xfrm>
            <a:off x="7132320" y="28346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IA recomenda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6492240" y="3520440"/>
            <a:ext cx="2057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 base nos padrões, recomenda mais vídeos de gatos.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ldNum" idx="17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C620A-B3A1-4FA7-A81A-C945082DF627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Tendências emergentes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card"/>
          <p:cNvSpPr/>
          <p:nvPr/>
        </p:nvSpPr>
        <p:spPr>
          <a:xfrm>
            <a:off x="457200" y="1143000"/>
            <a:ext cx="4023000" cy="35200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685800" y="1280160"/>
            <a:ext cx="3611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IA Generativa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Transformando a criação de conteúdo: IAs generativas criam textos, imagens e músicas de forma autônoma.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Aplicações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Marketing: campanhas personalizadas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Entretenimento: criação de mídia única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Design: geração de novas formas e estilos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Impacto: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desafia noções de autoria e amplia as possibilidades criativas.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card"/>
          <p:cNvSpPr/>
          <p:nvPr/>
        </p:nvSpPr>
        <p:spPr>
          <a:xfrm>
            <a:off x="4663440" y="1143000"/>
            <a:ext cx="4023000" cy="35200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card-accent"/>
          <p:cNvSpPr/>
          <p:nvPr/>
        </p:nvSpPr>
        <p:spPr>
          <a:xfrm>
            <a:off x="489204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4892040" y="1280160"/>
            <a:ext cx="3611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IA Preditiva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Analisa dados históricos para prever eventos futuros.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Aplicações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Negócios: previsão de vendas e demanda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Saúde: diagnóstico precoce de doenças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Finanças: análise de risco e tendências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Marketing: segmentação e personalização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Impacto: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melhora a tomada de decisões, otimiza recursos e aumenta a eficiência em diversos setores.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18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1DF12B-45D9-4A2E-9038-A650E911CCD2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Dicas para entrar em contato com a IA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card"/>
          <p:cNvSpPr/>
          <p:nvPr/>
        </p:nvSpPr>
        <p:spPr>
          <a:xfrm>
            <a:off x="457200" y="1188720"/>
            <a:ext cx="1554120" cy="34286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cover-backing"/>
          <p:cNvSpPr/>
          <p:nvPr/>
        </p:nvSpPr>
        <p:spPr>
          <a:xfrm>
            <a:off x="548640" y="1325880"/>
            <a:ext cx="1371240" cy="1828440"/>
          </a:xfrm>
          <a:prstGeom prst="roundRect">
            <a:avLst>
              <a:gd name="adj" fmla="val 5333"/>
            </a:avLst>
          </a:prstGeom>
          <a:solidFill>
            <a:srgbClr val="05070F"/>
          </a:solidFill>
          <a:ln w="12700">
            <a:solidFill>
              <a:srgbClr val="0507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0" descr="Jogo da Imitação"/>
          <p:cNvPicPr/>
          <p:nvPr/>
        </p:nvPicPr>
        <p:blipFill>
          <a:blip r:embed="rId1"/>
          <a:stretch/>
        </p:blipFill>
        <p:spPr>
          <a:xfrm>
            <a:off x="548640" y="1762920"/>
            <a:ext cx="1371240" cy="95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4"/>
          <p:cNvSpPr/>
          <p:nvPr/>
        </p:nvSpPr>
        <p:spPr>
          <a:xfrm>
            <a:off x="548640" y="32734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accent1"/>
                </a:solidFill>
                <a:effectLst/>
                <a:uFillTx/>
                <a:latin typeface="Calibri"/>
              </a:rPr>
              <a:t>FILME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548640" y="354780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Jogo da Imitação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card"/>
          <p:cNvSpPr/>
          <p:nvPr/>
        </p:nvSpPr>
        <p:spPr>
          <a:xfrm>
            <a:off x="2126160" y="1188720"/>
            <a:ext cx="1554120" cy="34286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card-accent"/>
          <p:cNvSpPr/>
          <p:nvPr/>
        </p:nvSpPr>
        <p:spPr>
          <a:xfrm>
            <a:off x="2354760" y="11887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cover-backing"/>
          <p:cNvSpPr/>
          <p:nvPr/>
        </p:nvSpPr>
        <p:spPr>
          <a:xfrm>
            <a:off x="2217600" y="1325880"/>
            <a:ext cx="1371240" cy="1828440"/>
          </a:xfrm>
          <a:prstGeom prst="roundRect">
            <a:avLst>
              <a:gd name="adj" fmla="val 5333"/>
            </a:avLst>
          </a:prstGeom>
          <a:solidFill>
            <a:srgbClr val="05070F"/>
          </a:solidFill>
          <a:ln w="12700">
            <a:solidFill>
              <a:srgbClr val="0507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1" descr="Her (Ela)"/>
          <p:cNvPicPr/>
          <p:nvPr/>
        </p:nvPicPr>
        <p:blipFill>
          <a:blip r:embed="rId2"/>
          <a:stretch/>
        </p:blipFill>
        <p:spPr>
          <a:xfrm>
            <a:off x="2217600" y="1784520"/>
            <a:ext cx="1371240" cy="91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9"/>
          <p:cNvSpPr/>
          <p:nvPr/>
        </p:nvSpPr>
        <p:spPr>
          <a:xfrm>
            <a:off x="2217600" y="32734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accent3"/>
                </a:solidFill>
                <a:effectLst/>
                <a:uFillTx/>
                <a:latin typeface="Calibri"/>
              </a:rPr>
              <a:t>FILME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0"/>
          <p:cNvSpPr/>
          <p:nvPr/>
        </p:nvSpPr>
        <p:spPr>
          <a:xfrm>
            <a:off x="2217600" y="354780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Her (Ela)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card"/>
          <p:cNvSpPr/>
          <p:nvPr/>
        </p:nvSpPr>
        <p:spPr>
          <a:xfrm>
            <a:off x="3794760" y="1188720"/>
            <a:ext cx="1554120" cy="34286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card-accent"/>
          <p:cNvSpPr/>
          <p:nvPr/>
        </p:nvSpPr>
        <p:spPr>
          <a:xfrm>
            <a:off x="4023360" y="11887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cover-backing"/>
          <p:cNvSpPr/>
          <p:nvPr/>
        </p:nvSpPr>
        <p:spPr>
          <a:xfrm>
            <a:off x="3886200" y="1325880"/>
            <a:ext cx="1371240" cy="1828440"/>
          </a:xfrm>
          <a:prstGeom prst="roundRect">
            <a:avLst>
              <a:gd name="adj" fmla="val 5333"/>
            </a:avLst>
          </a:prstGeom>
          <a:solidFill>
            <a:srgbClr val="05070F"/>
          </a:solidFill>
          <a:ln w="12700">
            <a:solidFill>
              <a:srgbClr val="0507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2" descr="A Revolução da Inteligência Artificial, de Kai-Fu Lee"/>
          <p:cNvPicPr/>
          <p:nvPr/>
        </p:nvPicPr>
        <p:blipFill>
          <a:blip r:embed="rId3"/>
          <a:stretch/>
        </p:blipFill>
        <p:spPr>
          <a:xfrm>
            <a:off x="3949920" y="1325880"/>
            <a:ext cx="1243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14"/>
          <p:cNvSpPr/>
          <p:nvPr/>
        </p:nvSpPr>
        <p:spPr>
          <a:xfrm>
            <a:off x="3886200" y="32734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accent4"/>
                </a:solidFill>
                <a:effectLst/>
                <a:uFillTx/>
                <a:latin typeface="Calibri"/>
              </a:rPr>
              <a:t>LIVRO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5"/>
          <p:cNvSpPr/>
          <p:nvPr/>
        </p:nvSpPr>
        <p:spPr>
          <a:xfrm>
            <a:off x="3886200" y="354780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Revolução da Inteligência Artificial, de Kai-Fu Lee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card"/>
          <p:cNvSpPr/>
          <p:nvPr/>
        </p:nvSpPr>
        <p:spPr>
          <a:xfrm>
            <a:off x="5463720" y="1188720"/>
            <a:ext cx="1554120" cy="34286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card-accent"/>
          <p:cNvSpPr/>
          <p:nvPr/>
        </p:nvSpPr>
        <p:spPr>
          <a:xfrm>
            <a:off x="5692320" y="1188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cover-backing"/>
          <p:cNvSpPr/>
          <p:nvPr/>
        </p:nvSpPr>
        <p:spPr>
          <a:xfrm>
            <a:off x="5555160" y="1325880"/>
            <a:ext cx="1371240" cy="1828440"/>
          </a:xfrm>
          <a:prstGeom prst="roundRect">
            <a:avLst>
              <a:gd name="adj" fmla="val 5333"/>
            </a:avLst>
          </a:prstGeom>
          <a:solidFill>
            <a:srgbClr val="05070F"/>
          </a:solidFill>
          <a:ln w="12700">
            <a:solidFill>
              <a:srgbClr val="0507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3" descr="Alexa da Amazon"/>
          <p:cNvPicPr/>
          <p:nvPr/>
        </p:nvPicPr>
        <p:blipFill>
          <a:blip r:embed="rId4"/>
          <a:stretch/>
        </p:blipFill>
        <p:spPr>
          <a:xfrm>
            <a:off x="5555160" y="1783080"/>
            <a:ext cx="13712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19"/>
          <p:cNvSpPr/>
          <p:nvPr/>
        </p:nvSpPr>
        <p:spPr>
          <a:xfrm>
            <a:off x="5555160" y="32734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accent2"/>
                </a:solidFill>
                <a:effectLst/>
                <a:uFillTx/>
                <a:latin typeface="Calibri"/>
              </a:rPr>
              <a:t>ASSISTENTE VIRTUAL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0"/>
          <p:cNvSpPr/>
          <p:nvPr/>
        </p:nvSpPr>
        <p:spPr>
          <a:xfrm>
            <a:off x="5555160" y="354780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Alexa da Amazon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card"/>
          <p:cNvSpPr/>
          <p:nvPr/>
        </p:nvSpPr>
        <p:spPr>
          <a:xfrm>
            <a:off x="7132320" y="1188720"/>
            <a:ext cx="1554120" cy="34286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card-accent"/>
          <p:cNvSpPr/>
          <p:nvPr/>
        </p:nvSpPr>
        <p:spPr>
          <a:xfrm>
            <a:off x="7360920" y="118872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cover-backing"/>
          <p:cNvSpPr/>
          <p:nvPr/>
        </p:nvSpPr>
        <p:spPr>
          <a:xfrm>
            <a:off x="7223760" y="1325880"/>
            <a:ext cx="1371240" cy="1828440"/>
          </a:xfrm>
          <a:prstGeom prst="roundRect">
            <a:avLst>
              <a:gd name="adj" fmla="val 5333"/>
            </a:avLst>
          </a:prstGeom>
          <a:solidFill>
            <a:srgbClr val="05070F"/>
          </a:solidFill>
          <a:ln w="12700">
            <a:solidFill>
              <a:srgbClr val="0507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 4" descr="Carros autônomos"/>
          <p:cNvPicPr/>
          <p:nvPr/>
        </p:nvPicPr>
        <p:blipFill>
          <a:blip r:embed="rId5"/>
          <a:stretch/>
        </p:blipFill>
        <p:spPr>
          <a:xfrm>
            <a:off x="7223760" y="1854360"/>
            <a:ext cx="1371240" cy="7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24"/>
          <p:cNvSpPr/>
          <p:nvPr/>
        </p:nvSpPr>
        <p:spPr>
          <a:xfrm>
            <a:off x="7223760" y="32734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accent5"/>
                </a:solidFill>
                <a:effectLst/>
                <a:uFillTx/>
                <a:latin typeface="Calibri"/>
              </a:rPr>
              <a:t>TECNOLOGIA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5"/>
          <p:cNvSpPr/>
          <p:nvPr/>
        </p:nvSpPr>
        <p:spPr>
          <a:xfrm>
            <a:off x="7223760" y="354780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Carros autônomos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19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4CBF86-7A89-48AC-88D8-849565201E6B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hasCustomPrompt="1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PARTE 02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Python para Inteligência Artificial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6583680" y="15544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chemeClr val="accent2">
                    <a:alpha val="60000"/>
                  </a:schemeClr>
                </a:solidFill>
                <a:effectLst/>
                <a:uFillTx/>
                <a:latin typeface="Calibri"/>
              </a:rPr>
              <a:t>02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que é Python?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8" name="Image 0" descr="Código Python na tela"/>
          <p:cNvPicPr/>
          <p:nvPr/>
        </p:nvPicPr>
        <p:blipFill>
          <a:blip r:embed="rId1"/>
          <a:stretch/>
        </p:blipFill>
        <p:spPr>
          <a:xfrm>
            <a:off x="457200" y="1188720"/>
            <a:ext cx="347436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card"/>
          <p:cNvSpPr/>
          <p:nvPr/>
        </p:nvSpPr>
        <p:spPr>
          <a:xfrm>
            <a:off x="4160520" y="1188720"/>
            <a:ext cx="4525920" cy="77688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card-accent"/>
          <p:cNvSpPr/>
          <p:nvPr/>
        </p:nvSpPr>
        <p:spPr>
          <a:xfrm>
            <a:off x="4389120" y="11887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4389120" y="118872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É uma linguagem de alto nível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card"/>
          <p:cNvSpPr/>
          <p:nvPr/>
        </p:nvSpPr>
        <p:spPr>
          <a:xfrm>
            <a:off x="4160520" y="2103120"/>
            <a:ext cx="4525920" cy="127980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card-accent"/>
          <p:cNvSpPr/>
          <p:nvPr/>
        </p:nvSpPr>
        <p:spPr>
          <a:xfrm>
            <a:off x="4389120" y="21031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6"/>
          <p:cNvSpPr/>
          <p:nvPr/>
        </p:nvSpPr>
        <p:spPr>
          <a:xfrm>
            <a:off x="4389120" y="2194560"/>
            <a:ext cx="4114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Simplicidade e legibilidade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Facilita o aprendizado e a aplicação em diversas áreas, como desenvolvimento web, análise de dados, automação e inteligência artificial (IA).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card"/>
          <p:cNvSpPr/>
          <p:nvPr/>
        </p:nvSpPr>
        <p:spPr>
          <a:xfrm>
            <a:off x="4160520" y="3520440"/>
            <a:ext cx="4525920" cy="1096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card-accent"/>
          <p:cNvSpPr/>
          <p:nvPr/>
        </p:nvSpPr>
        <p:spPr>
          <a:xfrm>
            <a:off x="4389120" y="352044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9"/>
          <p:cNvSpPr/>
          <p:nvPr/>
        </p:nvSpPr>
        <p:spPr>
          <a:xfrm>
            <a:off x="4389120" y="3593520"/>
            <a:ext cx="4114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Bibliotecas e frameworks robustos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NumPy, pandas, scikit-learn, TensorFlow e PyTorch, amplamente usados para machine learning, deep learning e outros tipos de IA.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ldNum" idx="20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88A4C3-E146-468F-A3C7-63F90CDFE991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Python em aplicações de IA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0" name="card"/>
          <p:cNvSpPr/>
          <p:nvPr/>
        </p:nvSpPr>
        <p:spPr>
          <a:xfrm>
            <a:off x="457200" y="1143000"/>
            <a:ext cx="59432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685800" y="1170360"/>
            <a:ext cx="557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Machine Learning: </a:t>
            </a: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frameworks como scikit-learn facilitam a criação de modelos.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card"/>
          <p:cNvSpPr/>
          <p:nvPr/>
        </p:nvSpPr>
        <p:spPr>
          <a:xfrm>
            <a:off x="457200" y="1856160"/>
            <a:ext cx="59432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card-accent"/>
          <p:cNvSpPr/>
          <p:nvPr/>
        </p:nvSpPr>
        <p:spPr>
          <a:xfrm>
            <a:off x="685800" y="185616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685800" y="1883520"/>
            <a:ext cx="557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Deep Learning: </a:t>
            </a: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TensorFlow e PyTorch criam redes neurais, essenciais para reconhecimento de imagem, NLP etc.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card"/>
          <p:cNvSpPr/>
          <p:nvPr/>
        </p:nvSpPr>
        <p:spPr>
          <a:xfrm>
            <a:off x="457200" y="2569320"/>
            <a:ext cx="59432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card-accent"/>
          <p:cNvSpPr/>
          <p:nvPr/>
        </p:nvSpPr>
        <p:spPr>
          <a:xfrm>
            <a:off x="685800" y="25693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685800" y="2597040"/>
            <a:ext cx="557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Processamento de Linguagem Natural (NLP): </a:t>
            </a: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bibliotecas como spaCy e NLTK auxiliam na construção de chatbots e sistemas de recomendação.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card"/>
          <p:cNvSpPr/>
          <p:nvPr/>
        </p:nvSpPr>
        <p:spPr>
          <a:xfrm>
            <a:off x="457200" y="3282840"/>
            <a:ext cx="59432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card-accent"/>
          <p:cNvSpPr/>
          <p:nvPr/>
        </p:nvSpPr>
        <p:spPr>
          <a:xfrm>
            <a:off x="685800" y="328284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2"/>
          <p:cNvSpPr/>
          <p:nvPr/>
        </p:nvSpPr>
        <p:spPr>
          <a:xfrm>
            <a:off x="685800" y="3310200"/>
            <a:ext cx="557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Visão Computacional: </a:t>
            </a: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OpenCV é amplamente usado para reconhecimento de objetos e processamento de imagens.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card"/>
          <p:cNvSpPr/>
          <p:nvPr/>
        </p:nvSpPr>
        <p:spPr>
          <a:xfrm>
            <a:off x="457200" y="3996000"/>
            <a:ext cx="59432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card-accent"/>
          <p:cNvSpPr/>
          <p:nvPr/>
        </p:nvSpPr>
        <p:spPr>
          <a:xfrm>
            <a:off x="685800" y="399600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5"/>
          <p:cNvSpPr/>
          <p:nvPr/>
        </p:nvSpPr>
        <p:spPr>
          <a:xfrm>
            <a:off x="685800" y="4023360"/>
            <a:ext cx="557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Sistemas de Recomendação: </a:t>
            </a: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usados em streaming de vídeo e compras online, geralmente implementados com machine learning em Python.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logo-card"/>
          <p:cNvSpPr/>
          <p:nvPr/>
        </p:nvSpPr>
        <p:spPr>
          <a:xfrm>
            <a:off x="6583680" y="1143000"/>
            <a:ext cx="2102760" cy="804240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1587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0" descr="Logo spaCy"/>
          <p:cNvPicPr/>
          <p:nvPr/>
        </p:nvPicPr>
        <p:blipFill>
          <a:blip r:embed="rId1"/>
          <a:stretch/>
        </p:blipFill>
        <p:spPr>
          <a:xfrm>
            <a:off x="7287840" y="1197720"/>
            <a:ext cx="694440" cy="6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logo-card"/>
          <p:cNvSpPr/>
          <p:nvPr/>
        </p:nvSpPr>
        <p:spPr>
          <a:xfrm>
            <a:off x="6583680" y="2030040"/>
            <a:ext cx="2102760" cy="804240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15875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8" name="Image 1" descr="Logo TensorFlow"/>
          <p:cNvPicPr/>
          <p:nvPr/>
        </p:nvPicPr>
        <p:blipFill>
          <a:blip r:embed="rId2"/>
          <a:stretch/>
        </p:blipFill>
        <p:spPr>
          <a:xfrm>
            <a:off x="6675120" y="2110320"/>
            <a:ext cx="1919880" cy="6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logo-card"/>
          <p:cNvSpPr/>
          <p:nvPr/>
        </p:nvSpPr>
        <p:spPr>
          <a:xfrm>
            <a:off x="6583680" y="2917080"/>
            <a:ext cx="2102760" cy="804240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15875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0" name="Image 2" descr="Logo PyTorch"/>
          <p:cNvPicPr/>
          <p:nvPr/>
        </p:nvPicPr>
        <p:blipFill>
          <a:blip r:embed="rId3"/>
          <a:stretch/>
        </p:blipFill>
        <p:spPr>
          <a:xfrm>
            <a:off x="6940440" y="2971800"/>
            <a:ext cx="1389600" cy="6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logo-card"/>
          <p:cNvSpPr/>
          <p:nvPr/>
        </p:nvSpPr>
        <p:spPr>
          <a:xfrm>
            <a:off x="6583680" y="3803760"/>
            <a:ext cx="2102760" cy="804240"/>
          </a:xfrm>
          <a:prstGeom prst="roundRect">
            <a:avLst>
              <a:gd name="adj" fmla="val 11364"/>
            </a:avLst>
          </a:prstGeom>
          <a:solidFill>
            <a:srgbClr val="000000"/>
          </a:solidFill>
          <a:ln w="15875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2" name="Image 3" descr="Logo OpenCV"/>
          <p:cNvPicPr/>
          <p:nvPr/>
        </p:nvPicPr>
        <p:blipFill>
          <a:blip r:embed="rId4"/>
          <a:stretch/>
        </p:blipFill>
        <p:spPr>
          <a:xfrm>
            <a:off x="7353000" y="3858840"/>
            <a:ext cx="564120" cy="6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PlaceHolder 2"/>
          <p:cNvSpPr>
            <a:spLocks noGrp="1"/>
          </p:cNvSpPr>
          <p:nvPr>
            <p:ph type="sldNum" idx="21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6100C6-5961-4DEA-928D-5FBF0B695376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Por que Python?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5" name="card"/>
          <p:cNvSpPr/>
          <p:nvPr/>
        </p:nvSpPr>
        <p:spPr>
          <a:xfrm>
            <a:off x="457200" y="1188720"/>
            <a:ext cx="2651400" cy="233136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icon-badge"/>
          <p:cNvSpPr/>
          <p:nvPr/>
        </p:nvSpPr>
        <p:spPr>
          <a:xfrm>
            <a:off x="685800" y="1371600"/>
            <a:ext cx="566640" cy="566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8" name="Image 0" descr="ícone"/>
          <p:cNvPicPr/>
          <p:nvPr/>
        </p:nvPicPr>
        <p:blipFill>
          <a:blip r:embed="rId1"/>
          <a:stretch/>
        </p:blipFill>
        <p:spPr>
          <a:xfrm>
            <a:off x="827640" y="15134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Text 4"/>
          <p:cNvSpPr/>
          <p:nvPr/>
        </p:nvSpPr>
        <p:spPr>
          <a:xfrm>
            <a:off x="685800" y="205740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Fácil de ler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685800" y="2423160"/>
            <a:ext cx="22399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Sintaxe parecida com frases comuns, o que ajuda a focar nas ideias em vez de detalhes técnicos.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card"/>
          <p:cNvSpPr/>
          <p:nvPr/>
        </p:nvSpPr>
        <p:spPr>
          <a:xfrm>
            <a:off x="3246120" y="1188720"/>
            <a:ext cx="2651400" cy="233136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card-accent"/>
          <p:cNvSpPr/>
          <p:nvPr/>
        </p:nvSpPr>
        <p:spPr>
          <a:xfrm>
            <a:off x="3474720" y="1188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icon-badge"/>
          <p:cNvSpPr/>
          <p:nvPr/>
        </p:nvSpPr>
        <p:spPr>
          <a:xfrm>
            <a:off x="3474720" y="1371600"/>
            <a:ext cx="566640" cy="566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4" name="Image 1" descr="ícone"/>
          <p:cNvPicPr/>
          <p:nvPr/>
        </p:nvPicPr>
        <p:blipFill>
          <a:blip r:embed="rId2"/>
          <a:stretch/>
        </p:blipFill>
        <p:spPr>
          <a:xfrm>
            <a:off x="3616560" y="15134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 9"/>
          <p:cNvSpPr/>
          <p:nvPr/>
        </p:nvSpPr>
        <p:spPr>
          <a:xfrm>
            <a:off x="3474720" y="205740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Várias áreas de IA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3474720" y="2423160"/>
            <a:ext cx="22399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Processamento de linguagem natural, visão computacional e análise de dados.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card"/>
          <p:cNvSpPr/>
          <p:nvPr/>
        </p:nvSpPr>
        <p:spPr>
          <a:xfrm>
            <a:off x="6035040" y="1188720"/>
            <a:ext cx="2651400" cy="233136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card-accent"/>
          <p:cNvSpPr/>
          <p:nvPr/>
        </p:nvSpPr>
        <p:spPr>
          <a:xfrm>
            <a:off x="6263640" y="11887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icon-badge"/>
          <p:cNvSpPr/>
          <p:nvPr/>
        </p:nvSpPr>
        <p:spPr>
          <a:xfrm>
            <a:off x="6263640" y="1371600"/>
            <a:ext cx="566640" cy="5666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0" name="Image 2" descr="ícone"/>
          <p:cNvPicPr/>
          <p:nvPr/>
        </p:nvPicPr>
        <p:blipFill>
          <a:blip r:embed="rId3"/>
          <a:stretch/>
        </p:blipFill>
        <p:spPr>
          <a:xfrm>
            <a:off x="6405480" y="15134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 14"/>
          <p:cNvSpPr/>
          <p:nvPr/>
        </p:nvSpPr>
        <p:spPr>
          <a:xfrm>
            <a:off x="6263640" y="205740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Direto na nuvem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5"/>
          <p:cNvSpPr/>
          <p:nvPr/>
        </p:nvSpPr>
        <p:spPr>
          <a:xfrm>
            <a:off x="6263640" y="2423160"/>
            <a:ext cx="22399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Integra-se bem com o Google Colab, aproveitando a nuvem para executar projetos sem instalação local.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code-card"/>
          <p:cNvSpPr/>
          <p:nvPr/>
        </p:nvSpPr>
        <p:spPr>
          <a:xfrm>
            <a:off x="457200" y="3749040"/>
            <a:ext cx="8229240" cy="868320"/>
          </a:xfrm>
          <a:prstGeom prst="roundRect">
            <a:avLst>
              <a:gd name="adj" fmla="val 12632"/>
            </a:avLst>
          </a:prstGeom>
          <a:solidFill>
            <a:srgbClr val="05070F"/>
          </a:solidFill>
          <a:ln w="15875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7"/>
          <p:cNvSpPr/>
          <p:nvPr/>
        </p:nvSpPr>
        <p:spPr>
          <a:xfrm>
            <a:off x="731520" y="379476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&gt;&gt;&gt; </a:t>
            </a:r>
            <a:r>
              <a:rPr lang="en-US" sz="1500" b="0" u="none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print(</a:t>
            </a:r>
            <a:r>
              <a:rPr lang="en-US" sz="1500" b="0" u="none" strike="noStrike">
                <a:solidFill>
                  <a:schemeClr val="accent5"/>
                </a:solidFill>
                <a:effectLst/>
                <a:uFillTx/>
                <a:latin typeface="Consolas"/>
                <a:ea typeface="Consolas"/>
              </a:rPr>
              <a:t>"Olá, mundo da IA!"</a:t>
            </a:r>
            <a:r>
              <a:rPr lang="en-US" sz="1500" b="0" u="none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2"/>
                </a:solidFill>
                <a:effectLst/>
                <a:uFillTx/>
                <a:latin typeface="Consolas"/>
                <a:ea typeface="Consolas"/>
              </a:rPr>
              <a:t>Olá, mundo da IA!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ldNum" idx="22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7185F2-78A2-4AFF-97F7-142E5ACCB339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Criação de conta no Google Colab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7" name="card"/>
          <p:cNvSpPr/>
          <p:nvPr/>
        </p:nvSpPr>
        <p:spPr>
          <a:xfrm>
            <a:off x="457200" y="1143000"/>
            <a:ext cx="8229240" cy="95976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731520" y="1188720"/>
            <a:ext cx="7680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Google Colab (Colaboratory)</a:t>
            </a:r>
            <a:r>
              <a:rPr lang="en-US" sz="1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é uma plataforma gratuita baseada na nuvem para execução de código em Python.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card"/>
          <p:cNvSpPr/>
          <p:nvPr/>
        </p:nvSpPr>
        <p:spPr>
          <a:xfrm>
            <a:off x="457200" y="2331720"/>
            <a:ext cx="2651400" cy="228564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card-accent"/>
          <p:cNvSpPr/>
          <p:nvPr/>
        </p:nvSpPr>
        <p:spPr>
          <a:xfrm>
            <a:off x="685800" y="23317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num-badge"/>
          <p:cNvSpPr/>
          <p:nvPr/>
        </p:nvSpPr>
        <p:spPr>
          <a:xfrm>
            <a:off x="685800" y="25603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7"/>
          <p:cNvSpPr/>
          <p:nvPr/>
        </p:nvSpPr>
        <p:spPr>
          <a:xfrm>
            <a:off x="685800" y="2560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8"/>
          <p:cNvSpPr/>
          <p:nvPr/>
        </p:nvSpPr>
        <p:spPr>
          <a:xfrm>
            <a:off x="1371600" y="25603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Acesse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9"/>
          <p:cNvSpPr/>
          <p:nvPr/>
        </p:nvSpPr>
        <p:spPr>
          <a:xfrm>
            <a:off x="685800" y="329184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sng" strike="noStrike">
                <a:solidFill>
                  <a:schemeClr val="accent1"/>
                </a:solidFill>
                <a:effectLst/>
                <a:uFillTx/>
                <a:latin typeface="Calibri"/>
                <a:hlinkClick r:id="rId1"/>
              </a:rPr>
              <a:t>colab.research.google.com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card"/>
          <p:cNvSpPr/>
          <p:nvPr/>
        </p:nvSpPr>
        <p:spPr>
          <a:xfrm>
            <a:off x="3246120" y="2331720"/>
            <a:ext cx="2651400" cy="228564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card-accent"/>
          <p:cNvSpPr/>
          <p:nvPr/>
        </p:nvSpPr>
        <p:spPr>
          <a:xfrm>
            <a:off x="3474720" y="2331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num-badge"/>
          <p:cNvSpPr/>
          <p:nvPr/>
        </p:nvSpPr>
        <p:spPr>
          <a:xfrm>
            <a:off x="3474720" y="2560320"/>
            <a:ext cx="548280" cy="5482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3"/>
          <p:cNvSpPr/>
          <p:nvPr/>
        </p:nvSpPr>
        <p:spPr>
          <a:xfrm>
            <a:off x="3474720" y="2560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4"/>
          <p:cNvSpPr/>
          <p:nvPr/>
        </p:nvSpPr>
        <p:spPr>
          <a:xfrm>
            <a:off x="4160520" y="25603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Faça login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5"/>
          <p:cNvSpPr/>
          <p:nvPr/>
        </p:nvSpPr>
        <p:spPr>
          <a:xfrm>
            <a:off x="3474720" y="329184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Entre com uma conta Google.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card"/>
          <p:cNvSpPr/>
          <p:nvPr/>
        </p:nvSpPr>
        <p:spPr>
          <a:xfrm>
            <a:off x="6035040" y="2331720"/>
            <a:ext cx="2651400" cy="228564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card-accent"/>
          <p:cNvSpPr/>
          <p:nvPr/>
        </p:nvSpPr>
        <p:spPr>
          <a:xfrm>
            <a:off x="6263640" y="233172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icon-badge"/>
          <p:cNvSpPr/>
          <p:nvPr/>
        </p:nvSpPr>
        <p:spPr>
          <a:xfrm>
            <a:off x="6263640" y="2560320"/>
            <a:ext cx="548280" cy="54828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0" descr="ícone"/>
          <p:cNvPicPr/>
          <p:nvPr/>
        </p:nvPicPr>
        <p:blipFill>
          <a:blip r:embed="rId2"/>
          <a:stretch/>
        </p:blipFill>
        <p:spPr>
          <a:xfrm>
            <a:off x="6400800" y="26974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19"/>
          <p:cNvSpPr/>
          <p:nvPr/>
        </p:nvSpPr>
        <p:spPr>
          <a:xfrm>
            <a:off x="6949440" y="25603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Dica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0"/>
          <p:cNvSpPr/>
          <p:nvPr/>
        </p:nvSpPr>
        <p:spPr>
          <a:xfrm>
            <a:off x="6263640" y="329184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Os notebooks (projetos) ficam salvos em uma pasta (Colab Notebooks) no Drive.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ldNum" idx="23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27BDD4-CC30-4F18-9F3B-A7EF84822B38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hasCustomPrompt="1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PARTE 03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Chatbots e ChatGPT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 2"/>
          <p:cNvSpPr/>
          <p:nvPr/>
        </p:nvSpPr>
        <p:spPr>
          <a:xfrm>
            <a:off x="6583680" y="15544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chemeClr val="accent2">
                    <a:alpha val="60000"/>
                  </a:schemeClr>
                </a:solidFill>
                <a:effectLst/>
                <a:uFillTx/>
                <a:latin typeface="Calibri"/>
              </a:rPr>
              <a:t>03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que são chatbots?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3" name="card"/>
          <p:cNvSpPr/>
          <p:nvPr/>
        </p:nvSpPr>
        <p:spPr>
          <a:xfrm>
            <a:off x="457200" y="1143000"/>
            <a:ext cx="5394600" cy="1096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icon-badge"/>
          <p:cNvSpPr/>
          <p:nvPr/>
        </p:nvSpPr>
        <p:spPr>
          <a:xfrm>
            <a:off x="685800" y="141732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Image 0" descr="ícone"/>
          <p:cNvPicPr/>
          <p:nvPr/>
        </p:nvPicPr>
        <p:blipFill>
          <a:blip r:embed="rId1"/>
          <a:stretch/>
        </p:blipFill>
        <p:spPr>
          <a:xfrm>
            <a:off x="822960" y="15544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 4"/>
          <p:cNvSpPr/>
          <p:nvPr/>
        </p:nvSpPr>
        <p:spPr>
          <a:xfrm>
            <a:off x="1463040" y="125280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Definição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"/>
          <p:cNvSpPr/>
          <p:nvPr/>
        </p:nvSpPr>
        <p:spPr>
          <a:xfrm>
            <a:off x="1463040" y="1600200"/>
            <a:ext cx="4205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Programas que simulam conversas humanas para responder a perguntas e ajudar usuários.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card"/>
          <p:cNvSpPr/>
          <p:nvPr/>
        </p:nvSpPr>
        <p:spPr>
          <a:xfrm>
            <a:off x="457200" y="2331720"/>
            <a:ext cx="5394600" cy="1096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card-accent"/>
          <p:cNvSpPr/>
          <p:nvPr/>
        </p:nvSpPr>
        <p:spPr>
          <a:xfrm>
            <a:off x="685800" y="2331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icon-badge"/>
          <p:cNvSpPr/>
          <p:nvPr/>
        </p:nvSpPr>
        <p:spPr>
          <a:xfrm>
            <a:off x="685800" y="2606040"/>
            <a:ext cx="548280" cy="5482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2" name="Image 1" descr="ícone"/>
          <p:cNvPicPr/>
          <p:nvPr/>
        </p:nvPicPr>
        <p:blipFill>
          <a:blip r:embed="rId2"/>
          <a:stretch/>
        </p:blipFill>
        <p:spPr>
          <a:xfrm>
            <a:off x="822960" y="2743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9"/>
          <p:cNvSpPr/>
          <p:nvPr/>
        </p:nvSpPr>
        <p:spPr>
          <a:xfrm>
            <a:off x="1463040" y="244152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Principais aplicações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0"/>
          <p:cNvSpPr/>
          <p:nvPr/>
        </p:nvSpPr>
        <p:spPr>
          <a:xfrm>
            <a:off x="1463040" y="2788920"/>
            <a:ext cx="4205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Atendimento ao cliente, FAQs em sites, assistentes virtuais.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card"/>
          <p:cNvSpPr/>
          <p:nvPr/>
        </p:nvSpPr>
        <p:spPr>
          <a:xfrm>
            <a:off x="457200" y="3520440"/>
            <a:ext cx="5394600" cy="1096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card-accent"/>
          <p:cNvSpPr/>
          <p:nvPr/>
        </p:nvSpPr>
        <p:spPr>
          <a:xfrm>
            <a:off x="685800" y="352044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icon-badge"/>
          <p:cNvSpPr/>
          <p:nvPr/>
        </p:nvSpPr>
        <p:spPr>
          <a:xfrm>
            <a:off x="685800" y="3794760"/>
            <a:ext cx="548280" cy="5482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2" descr="ícone"/>
          <p:cNvPicPr/>
          <p:nvPr/>
        </p:nvPicPr>
        <p:blipFill>
          <a:blip r:embed="rId3"/>
          <a:stretch/>
        </p:blipFill>
        <p:spPr>
          <a:xfrm>
            <a:off x="822960" y="39319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14"/>
          <p:cNvSpPr/>
          <p:nvPr/>
        </p:nvSpPr>
        <p:spPr>
          <a:xfrm>
            <a:off x="1463040" y="36302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Popularidade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1463040" y="3977640"/>
            <a:ext cx="4205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Usados amplamente por empresas para agilizar o atendimento e reduzir custos.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photo-card"/>
          <p:cNvSpPr/>
          <p:nvPr/>
        </p:nvSpPr>
        <p:spPr>
          <a:xfrm>
            <a:off x="6035040" y="1143000"/>
            <a:ext cx="2651400" cy="34743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2" name="Image 3" descr="Robô de atendimento conversando em um celular"/>
          <p:cNvPicPr/>
          <p:nvPr/>
        </p:nvPicPr>
        <p:blipFill>
          <a:blip r:embed="rId4"/>
          <a:stretch/>
        </p:blipFill>
        <p:spPr>
          <a:xfrm>
            <a:off x="6126480" y="2058840"/>
            <a:ext cx="2468520" cy="16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PlaceHolder 2"/>
          <p:cNvSpPr>
            <a:spLocks noGrp="1"/>
          </p:cNvSpPr>
          <p:nvPr>
            <p:ph type="sldNum" idx="24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25EDB4-181B-4E1D-80E9-C9D6D95DED98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Onde são utilizados os chatbots?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5" name="card"/>
          <p:cNvSpPr/>
          <p:nvPr/>
        </p:nvSpPr>
        <p:spPr>
          <a:xfrm>
            <a:off x="457200" y="1188720"/>
            <a:ext cx="4023000" cy="1645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icon-badge"/>
          <p:cNvSpPr/>
          <p:nvPr/>
        </p:nvSpPr>
        <p:spPr>
          <a:xfrm>
            <a:off x="685800" y="146304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Image 0" descr="ícone"/>
          <p:cNvPicPr/>
          <p:nvPr/>
        </p:nvPicPr>
        <p:blipFill>
          <a:blip r:embed="rId1"/>
          <a:stretch/>
        </p:blipFill>
        <p:spPr>
          <a:xfrm>
            <a:off x="857160" y="163440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 4"/>
          <p:cNvSpPr/>
          <p:nvPr/>
        </p:nvSpPr>
        <p:spPr>
          <a:xfrm>
            <a:off x="1554480" y="141732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E-commerce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"/>
          <p:cNvSpPr/>
          <p:nvPr/>
        </p:nvSpPr>
        <p:spPr>
          <a:xfrm>
            <a:off x="1554480" y="1828800"/>
            <a:ext cx="278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Atendimento rápido para dúvidas sobre produtos, entrega e devolução.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card"/>
          <p:cNvSpPr/>
          <p:nvPr/>
        </p:nvSpPr>
        <p:spPr>
          <a:xfrm>
            <a:off x="4663440" y="1188720"/>
            <a:ext cx="4023000" cy="1645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card-accent"/>
          <p:cNvSpPr/>
          <p:nvPr/>
        </p:nvSpPr>
        <p:spPr>
          <a:xfrm>
            <a:off x="4892040" y="1188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icon-badge"/>
          <p:cNvSpPr/>
          <p:nvPr/>
        </p:nvSpPr>
        <p:spPr>
          <a:xfrm>
            <a:off x="4892040" y="1463040"/>
            <a:ext cx="685440" cy="6854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4" name="Image 1" descr="ícone"/>
          <p:cNvPicPr/>
          <p:nvPr/>
        </p:nvPicPr>
        <p:blipFill>
          <a:blip r:embed="rId2"/>
          <a:stretch/>
        </p:blipFill>
        <p:spPr>
          <a:xfrm>
            <a:off x="5063400" y="163440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Text 9"/>
          <p:cNvSpPr/>
          <p:nvPr/>
        </p:nvSpPr>
        <p:spPr>
          <a:xfrm>
            <a:off x="5760720" y="141732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Bancos e Finanças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0"/>
          <p:cNvSpPr/>
          <p:nvPr/>
        </p:nvSpPr>
        <p:spPr>
          <a:xfrm>
            <a:off x="5760720" y="1828800"/>
            <a:ext cx="278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Resolução de dúvidas financeiras, saldos, pagamentos.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card"/>
          <p:cNvSpPr/>
          <p:nvPr/>
        </p:nvSpPr>
        <p:spPr>
          <a:xfrm>
            <a:off x="457200" y="2971800"/>
            <a:ext cx="4023000" cy="1645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card-accent"/>
          <p:cNvSpPr/>
          <p:nvPr/>
        </p:nvSpPr>
        <p:spPr>
          <a:xfrm>
            <a:off x="685800" y="29718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icon-badge"/>
          <p:cNvSpPr/>
          <p:nvPr/>
        </p:nvSpPr>
        <p:spPr>
          <a:xfrm>
            <a:off x="685800" y="3246120"/>
            <a:ext cx="685440" cy="6854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0" name="Image 2" descr="ícone"/>
          <p:cNvPicPr/>
          <p:nvPr/>
        </p:nvPicPr>
        <p:blipFill>
          <a:blip r:embed="rId3"/>
          <a:stretch/>
        </p:blipFill>
        <p:spPr>
          <a:xfrm>
            <a:off x="857160" y="341748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Text 14"/>
          <p:cNvSpPr/>
          <p:nvPr/>
        </p:nvSpPr>
        <p:spPr>
          <a:xfrm>
            <a:off x="1554480" y="320040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Saúde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5"/>
          <p:cNvSpPr/>
          <p:nvPr/>
        </p:nvSpPr>
        <p:spPr>
          <a:xfrm>
            <a:off x="1554480" y="3611880"/>
            <a:ext cx="278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Respostas a perguntas sobre sintomas e agendamento de consultas.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card"/>
          <p:cNvSpPr/>
          <p:nvPr/>
        </p:nvSpPr>
        <p:spPr>
          <a:xfrm>
            <a:off x="4663440" y="2971800"/>
            <a:ext cx="4023000" cy="16455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card-accent"/>
          <p:cNvSpPr/>
          <p:nvPr/>
        </p:nvSpPr>
        <p:spPr>
          <a:xfrm>
            <a:off x="4892040" y="297180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icon-badge"/>
          <p:cNvSpPr/>
          <p:nvPr/>
        </p:nvSpPr>
        <p:spPr>
          <a:xfrm>
            <a:off x="4892040" y="3246120"/>
            <a:ext cx="685440" cy="68544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6" name="Image 3" descr="ícone"/>
          <p:cNvPicPr/>
          <p:nvPr/>
        </p:nvPicPr>
        <p:blipFill>
          <a:blip r:embed="rId4"/>
          <a:stretch/>
        </p:blipFill>
        <p:spPr>
          <a:xfrm>
            <a:off x="5063400" y="341748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Text 19"/>
          <p:cNvSpPr/>
          <p:nvPr/>
        </p:nvSpPr>
        <p:spPr>
          <a:xfrm>
            <a:off x="5760720" y="320040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Entretenimento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0"/>
          <p:cNvSpPr/>
          <p:nvPr/>
        </p:nvSpPr>
        <p:spPr>
          <a:xfrm>
            <a:off x="5760720" y="3611880"/>
            <a:ext cx="278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Respostas rápidas para streaming e jogos.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 type="sldNum" idx="25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DDF1C-D7BD-4A64-9E3B-CBA65BFC0BDD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Chatbots em ação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1" name="card"/>
          <p:cNvSpPr/>
          <p:nvPr/>
        </p:nvSpPr>
        <p:spPr>
          <a:xfrm>
            <a:off x="457200" y="1143000"/>
            <a:ext cx="2651400" cy="3520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"/>
          <p:cNvSpPr/>
          <p:nvPr/>
        </p:nvSpPr>
        <p:spPr>
          <a:xfrm>
            <a:off x="640080" y="12618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chemeClr val="lt2"/>
                </a:solidFill>
                <a:effectLst/>
                <a:uFillTx/>
                <a:latin typeface="Calibri"/>
              </a:rPr>
              <a:t>Exemplo 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4"/>
          <p:cNvSpPr/>
          <p:nvPr/>
        </p:nvSpPr>
        <p:spPr>
          <a:xfrm>
            <a:off x="640080" y="1481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E-commerce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5"/>
          <p:cNvSpPr/>
          <p:nvPr/>
        </p:nvSpPr>
        <p:spPr>
          <a:xfrm>
            <a:off x="640080" y="18288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Atendimento rápido para dúvidas sobre produtos, entrega e devolução.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photo-card"/>
          <p:cNvSpPr/>
          <p:nvPr/>
        </p:nvSpPr>
        <p:spPr>
          <a:xfrm>
            <a:off x="640080" y="2514600"/>
            <a:ext cx="2285640" cy="20113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7" name="Image 0" descr="Exemplo de chatbot: E-commerce"/>
          <p:cNvPicPr/>
          <p:nvPr/>
        </p:nvPicPr>
        <p:blipFill>
          <a:blip r:embed="rId1"/>
          <a:stretch/>
        </p:blipFill>
        <p:spPr>
          <a:xfrm>
            <a:off x="1216440" y="2560320"/>
            <a:ext cx="113292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card"/>
          <p:cNvSpPr/>
          <p:nvPr/>
        </p:nvSpPr>
        <p:spPr>
          <a:xfrm>
            <a:off x="3246120" y="1143000"/>
            <a:ext cx="2651400" cy="3520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card-accent"/>
          <p:cNvSpPr/>
          <p:nvPr/>
        </p:nvSpPr>
        <p:spPr>
          <a:xfrm>
            <a:off x="3474720" y="114300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9"/>
          <p:cNvSpPr/>
          <p:nvPr/>
        </p:nvSpPr>
        <p:spPr>
          <a:xfrm>
            <a:off x="3429000" y="12618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chemeClr val="lt2"/>
                </a:solidFill>
                <a:effectLst/>
                <a:uFillTx/>
                <a:latin typeface="Calibri"/>
              </a:rPr>
              <a:t>Exemplo 2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0"/>
          <p:cNvSpPr/>
          <p:nvPr/>
        </p:nvSpPr>
        <p:spPr>
          <a:xfrm>
            <a:off x="3429000" y="1481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Bancos e Finanças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1"/>
          <p:cNvSpPr/>
          <p:nvPr/>
        </p:nvSpPr>
        <p:spPr>
          <a:xfrm>
            <a:off x="3429000" y="18288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Resolução de dúvidas financeiras, saldos, pagamentos.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photo-card"/>
          <p:cNvSpPr/>
          <p:nvPr/>
        </p:nvSpPr>
        <p:spPr>
          <a:xfrm>
            <a:off x="3429000" y="2514600"/>
            <a:ext cx="2285640" cy="20113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1" descr="Exemplo de chatbot: Bancos e Finanças"/>
          <p:cNvPicPr/>
          <p:nvPr/>
        </p:nvPicPr>
        <p:blipFill>
          <a:blip r:embed="rId2"/>
          <a:stretch/>
        </p:blipFill>
        <p:spPr>
          <a:xfrm>
            <a:off x="3803760" y="2560320"/>
            <a:ext cx="153576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card"/>
          <p:cNvSpPr/>
          <p:nvPr/>
        </p:nvSpPr>
        <p:spPr>
          <a:xfrm>
            <a:off x="6035040" y="1143000"/>
            <a:ext cx="2651400" cy="3520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card-accent"/>
          <p:cNvSpPr/>
          <p:nvPr/>
        </p:nvSpPr>
        <p:spPr>
          <a:xfrm>
            <a:off x="6263640" y="11430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5"/>
          <p:cNvSpPr/>
          <p:nvPr/>
        </p:nvSpPr>
        <p:spPr>
          <a:xfrm>
            <a:off x="6217920" y="12618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chemeClr val="lt2"/>
                </a:solidFill>
                <a:effectLst/>
                <a:uFillTx/>
                <a:latin typeface="Calibri"/>
              </a:rPr>
              <a:t>Exemplo 3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6"/>
          <p:cNvSpPr/>
          <p:nvPr/>
        </p:nvSpPr>
        <p:spPr>
          <a:xfrm>
            <a:off x="6217920" y="14814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Saúde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7"/>
          <p:cNvSpPr/>
          <p:nvPr/>
        </p:nvSpPr>
        <p:spPr>
          <a:xfrm>
            <a:off x="6217920" y="18288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Respostas a perguntas sobre sintomas e agendamento de consultas.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photo-card"/>
          <p:cNvSpPr/>
          <p:nvPr/>
        </p:nvSpPr>
        <p:spPr>
          <a:xfrm>
            <a:off x="6217920" y="2514600"/>
            <a:ext cx="2285640" cy="20113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Image 2" descr="Exemplo de chatbot: Saúde"/>
          <p:cNvPicPr/>
          <p:nvPr/>
        </p:nvPicPr>
        <p:blipFill>
          <a:blip r:embed="rId3"/>
          <a:stretch/>
        </p:blipFill>
        <p:spPr>
          <a:xfrm>
            <a:off x="6903000" y="2560320"/>
            <a:ext cx="91512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PlaceHolder 2"/>
          <p:cNvSpPr>
            <a:spLocks noGrp="1"/>
          </p:cNvSpPr>
          <p:nvPr>
            <p:ph type="sldNum" idx="26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4BE042-A4AD-4F2D-834A-8D13573BE30E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Como os chatbots funcionam?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 1"/>
          <p:cNvSpPr/>
          <p:nvPr/>
        </p:nvSpPr>
        <p:spPr>
          <a:xfrm>
            <a:off x="457200" y="11430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funcionamento dos chatbots é baseado em uma estrutura de perguntas e respostas.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"/>
          <p:cNvSpPr/>
          <p:nvPr/>
        </p:nvSpPr>
        <p:spPr>
          <a:xfrm>
            <a:off x="457200" y="210312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O BOT TERÁ CAPACIDADE DE: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card"/>
          <p:cNvSpPr/>
          <p:nvPr/>
        </p:nvSpPr>
        <p:spPr>
          <a:xfrm>
            <a:off x="457200" y="2423160"/>
            <a:ext cx="41144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card-accent"/>
          <p:cNvSpPr/>
          <p:nvPr/>
        </p:nvSpPr>
        <p:spPr>
          <a:xfrm>
            <a:off x="685800" y="242316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num-badge"/>
          <p:cNvSpPr/>
          <p:nvPr/>
        </p:nvSpPr>
        <p:spPr>
          <a:xfrm>
            <a:off x="640080" y="2514600"/>
            <a:ext cx="456840" cy="4568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6"/>
          <p:cNvSpPr/>
          <p:nvPr/>
        </p:nvSpPr>
        <p:spPr>
          <a:xfrm>
            <a:off x="640080" y="2514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7"/>
          <p:cNvSpPr/>
          <p:nvPr/>
        </p:nvSpPr>
        <p:spPr>
          <a:xfrm>
            <a:off x="1280160" y="242316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Analisar uma pergunta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card"/>
          <p:cNvSpPr/>
          <p:nvPr/>
        </p:nvSpPr>
        <p:spPr>
          <a:xfrm>
            <a:off x="457200" y="3154680"/>
            <a:ext cx="41144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card-accent"/>
          <p:cNvSpPr/>
          <p:nvPr/>
        </p:nvSpPr>
        <p:spPr>
          <a:xfrm>
            <a:off x="685800" y="315468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num-badge"/>
          <p:cNvSpPr/>
          <p:nvPr/>
        </p:nvSpPr>
        <p:spPr>
          <a:xfrm>
            <a:off x="640080" y="3246120"/>
            <a:ext cx="456840" cy="4568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1"/>
          <p:cNvSpPr/>
          <p:nvPr/>
        </p:nvSpPr>
        <p:spPr>
          <a:xfrm>
            <a:off x="640080" y="3246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2"/>
          <p:cNvSpPr/>
          <p:nvPr/>
        </p:nvSpPr>
        <p:spPr>
          <a:xfrm>
            <a:off x="1280160" y="315468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Identificar a intenção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card"/>
          <p:cNvSpPr/>
          <p:nvPr/>
        </p:nvSpPr>
        <p:spPr>
          <a:xfrm>
            <a:off x="457200" y="3886200"/>
            <a:ext cx="4114440" cy="63972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card-accent"/>
          <p:cNvSpPr/>
          <p:nvPr/>
        </p:nvSpPr>
        <p:spPr>
          <a:xfrm>
            <a:off x="685800" y="38862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num-badge"/>
          <p:cNvSpPr/>
          <p:nvPr/>
        </p:nvSpPr>
        <p:spPr>
          <a:xfrm>
            <a:off x="640080" y="3977640"/>
            <a:ext cx="456840" cy="4568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6"/>
          <p:cNvSpPr/>
          <p:nvPr/>
        </p:nvSpPr>
        <p:spPr>
          <a:xfrm>
            <a:off x="640080" y="3977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7"/>
          <p:cNvSpPr/>
          <p:nvPr/>
        </p:nvSpPr>
        <p:spPr>
          <a:xfrm>
            <a:off x="1280160" y="388620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Fornecer uma resposta adequada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photo-card"/>
          <p:cNvSpPr/>
          <p:nvPr/>
        </p:nvSpPr>
        <p:spPr>
          <a:xfrm>
            <a:off x="4846320" y="1143000"/>
            <a:ext cx="3840120" cy="35200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2" name="Image 0" descr="Fluxo de configuração de um chatbot"/>
          <p:cNvPicPr/>
          <p:nvPr/>
        </p:nvPicPr>
        <p:blipFill>
          <a:blip r:embed="rId1"/>
          <a:stretch/>
        </p:blipFill>
        <p:spPr>
          <a:xfrm>
            <a:off x="5229360" y="1207080"/>
            <a:ext cx="307404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Text 19"/>
          <p:cNvSpPr/>
          <p:nvPr/>
        </p:nvSpPr>
        <p:spPr>
          <a:xfrm>
            <a:off x="4846320" y="42793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Configuração de chatbots por fluxo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 type="sldNum" idx="27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7DFA78-916B-4D71-A473-0B8F4E996BDC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que é o ChatGPT?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6" name="photo-card"/>
          <p:cNvSpPr/>
          <p:nvPr/>
        </p:nvSpPr>
        <p:spPr>
          <a:xfrm>
            <a:off x="457200" y="1143000"/>
            <a:ext cx="2742840" cy="1188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7" name="Image 0" descr="Logo do ChatGPT"/>
          <p:cNvPicPr/>
          <p:nvPr/>
        </p:nvPicPr>
        <p:blipFill>
          <a:blip r:embed="rId1"/>
          <a:stretch/>
        </p:blipFill>
        <p:spPr>
          <a:xfrm>
            <a:off x="839880" y="1188720"/>
            <a:ext cx="197748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8" name="card"/>
          <p:cNvSpPr/>
          <p:nvPr/>
        </p:nvSpPr>
        <p:spPr>
          <a:xfrm>
            <a:off x="457200" y="2468880"/>
            <a:ext cx="2742840" cy="214848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card-accent"/>
          <p:cNvSpPr/>
          <p:nvPr/>
        </p:nvSpPr>
        <p:spPr>
          <a:xfrm>
            <a:off x="685800" y="246888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640080" y="2560320"/>
            <a:ext cx="23770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Modelo de IA desenvolvido pela OpenAI que processa e gera texto de forma natural.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card"/>
          <p:cNvSpPr/>
          <p:nvPr/>
        </p:nvSpPr>
        <p:spPr>
          <a:xfrm>
            <a:off x="3383280" y="1143000"/>
            <a:ext cx="5303160" cy="795240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card-accent"/>
          <p:cNvSpPr/>
          <p:nvPr/>
        </p:nvSpPr>
        <p:spPr>
          <a:xfrm>
            <a:off x="3611880" y="114300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7"/>
          <p:cNvSpPr/>
          <p:nvPr/>
        </p:nvSpPr>
        <p:spPr>
          <a:xfrm>
            <a:off x="3566160" y="1170360"/>
            <a:ext cx="13712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Treinamento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4983480" y="1170360"/>
            <a:ext cx="35658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Treinado com vastos dados textuais (até 2021) para entender e responder a uma ampla variedade de perguntas.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card"/>
          <p:cNvSpPr/>
          <p:nvPr/>
        </p:nvSpPr>
        <p:spPr>
          <a:xfrm>
            <a:off x="3383280" y="2030040"/>
            <a:ext cx="5303160" cy="795240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card-accent"/>
          <p:cNvSpPr/>
          <p:nvPr/>
        </p:nvSpPr>
        <p:spPr>
          <a:xfrm>
            <a:off x="3611880" y="203004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1"/>
          <p:cNvSpPr/>
          <p:nvPr/>
        </p:nvSpPr>
        <p:spPr>
          <a:xfrm>
            <a:off x="3566160" y="2057400"/>
            <a:ext cx="13712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Funcionalidades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4983480" y="2057400"/>
            <a:ext cx="35658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Responder a perguntas, participar de conversas, ajudar com redações e programações.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card"/>
          <p:cNvSpPr/>
          <p:nvPr/>
        </p:nvSpPr>
        <p:spPr>
          <a:xfrm>
            <a:off x="3383280" y="2917080"/>
            <a:ext cx="5303160" cy="795240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card-accent"/>
          <p:cNvSpPr/>
          <p:nvPr/>
        </p:nvSpPr>
        <p:spPr>
          <a:xfrm>
            <a:off x="3611880" y="291708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5"/>
          <p:cNvSpPr/>
          <p:nvPr/>
        </p:nvSpPr>
        <p:spPr>
          <a:xfrm>
            <a:off x="3566160" y="2944440"/>
            <a:ext cx="13712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Tecnologia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6"/>
          <p:cNvSpPr/>
          <p:nvPr/>
        </p:nvSpPr>
        <p:spPr>
          <a:xfrm>
            <a:off x="4983480" y="2944440"/>
            <a:ext cx="35658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Utiliza aprendizado profundo e transformadores.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card"/>
          <p:cNvSpPr/>
          <p:nvPr/>
        </p:nvSpPr>
        <p:spPr>
          <a:xfrm>
            <a:off x="3383280" y="3803760"/>
            <a:ext cx="5303160" cy="795240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card-accent"/>
          <p:cNvSpPr/>
          <p:nvPr/>
        </p:nvSpPr>
        <p:spPr>
          <a:xfrm>
            <a:off x="3611880" y="380376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9"/>
          <p:cNvSpPr/>
          <p:nvPr/>
        </p:nvSpPr>
        <p:spPr>
          <a:xfrm>
            <a:off x="3566160" y="3831480"/>
            <a:ext cx="13712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Objetivo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0"/>
          <p:cNvSpPr/>
          <p:nvPr/>
        </p:nvSpPr>
        <p:spPr>
          <a:xfrm>
            <a:off x="4983480" y="3831480"/>
            <a:ext cx="35658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Gerar respostas naturais e contextualmente relevantes.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sldNum" idx="28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F466BE-154B-4EBA-B297-EDCDC283C29E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Principais características do ChatGPT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9" name="card"/>
          <p:cNvSpPr/>
          <p:nvPr/>
        </p:nvSpPr>
        <p:spPr>
          <a:xfrm>
            <a:off x="457200" y="1188720"/>
            <a:ext cx="2651400" cy="3428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icon-badge"/>
          <p:cNvSpPr/>
          <p:nvPr/>
        </p:nvSpPr>
        <p:spPr>
          <a:xfrm>
            <a:off x="685800" y="141732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2" name="Image 0" descr="ícone"/>
          <p:cNvPicPr/>
          <p:nvPr/>
        </p:nvPicPr>
        <p:blipFill>
          <a:blip r:embed="rId1"/>
          <a:stretch/>
        </p:blipFill>
        <p:spPr>
          <a:xfrm>
            <a:off x="868680" y="16002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Text 4"/>
          <p:cNvSpPr/>
          <p:nvPr/>
        </p:nvSpPr>
        <p:spPr>
          <a:xfrm>
            <a:off x="685800" y="2331720"/>
            <a:ext cx="2239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Interpretação contextual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5"/>
          <p:cNvSpPr/>
          <p:nvPr/>
        </p:nvSpPr>
        <p:spPr>
          <a:xfrm>
            <a:off x="685800" y="3017520"/>
            <a:ext cx="22399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Consegue entender o contexto da conversa, ajustando suas respostas conforme o desenrolar do diálogo.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card"/>
          <p:cNvSpPr/>
          <p:nvPr/>
        </p:nvSpPr>
        <p:spPr>
          <a:xfrm>
            <a:off x="3246120" y="1188720"/>
            <a:ext cx="2651400" cy="3428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card-accent"/>
          <p:cNvSpPr/>
          <p:nvPr/>
        </p:nvSpPr>
        <p:spPr>
          <a:xfrm>
            <a:off x="3474720" y="11887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icon-badge"/>
          <p:cNvSpPr/>
          <p:nvPr/>
        </p:nvSpPr>
        <p:spPr>
          <a:xfrm>
            <a:off x="3474720" y="1417320"/>
            <a:ext cx="731160" cy="7311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1" descr="ícone"/>
          <p:cNvPicPr/>
          <p:nvPr/>
        </p:nvPicPr>
        <p:blipFill>
          <a:blip r:embed="rId2"/>
          <a:stretch/>
        </p:blipFill>
        <p:spPr>
          <a:xfrm>
            <a:off x="3657600" y="16002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9"/>
          <p:cNvSpPr/>
          <p:nvPr/>
        </p:nvSpPr>
        <p:spPr>
          <a:xfrm>
            <a:off x="3474720" y="2331720"/>
            <a:ext cx="2239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Flexibilidade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0"/>
          <p:cNvSpPr/>
          <p:nvPr/>
        </p:nvSpPr>
        <p:spPr>
          <a:xfrm>
            <a:off x="3474720" y="3017520"/>
            <a:ext cx="22399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Pode responder a perguntas gerais, técnicas e até participar de tarefas criativas, como escrita de ficção.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card"/>
          <p:cNvSpPr/>
          <p:nvPr/>
        </p:nvSpPr>
        <p:spPr>
          <a:xfrm>
            <a:off x="6035040" y="1188720"/>
            <a:ext cx="2651400" cy="34286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card-accent"/>
          <p:cNvSpPr/>
          <p:nvPr/>
        </p:nvSpPr>
        <p:spPr>
          <a:xfrm>
            <a:off x="6263640" y="11887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icon-badge"/>
          <p:cNvSpPr/>
          <p:nvPr/>
        </p:nvSpPr>
        <p:spPr>
          <a:xfrm>
            <a:off x="6263640" y="1417320"/>
            <a:ext cx="731160" cy="7311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4" name="Image 2" descr="ícone"/>
          <p:cNvPicPr/>
          <p:nvPr/>
        </p:nvPicPr>
        <p:blipFill>
          <a:blip r:embed="rId3"/>
          <a:stretch/>
        </p:blipFill>
        <p:spPr>
          <a:xfrm>
            <a:off x="6446520" y="16002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Text 14"/>
          <p:cNvSpPr/>
          <p:nvPr/>
        </p:nvSpPr>
        <p:spPr>
          <a:xfrm>
            <a:off x="6263640" y="2331720"/>
            <a:ext cx="2239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Aplicações variadas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5"/>
          <p:cNvSpPr/>
          <p:nvPr/>
        </p:nvSpPr>
        <p:spPr>
          <a:xfrm>
            <a:off x="6263640" y="3017520"/>
            <a:ext cx="22399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Desde atendimento ao cliente e chatbots educativos até assistentes virtuais e criação de conteúdo.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sldNum" idx="29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171E93-8E8E-438A-8703-FB3933D0F010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Funcionamento do ChatGPT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9" name="step-line"/>
          <p:cNvSpPr/>
          <p:nvPr/>
        </p:nvSpPr>
        <p:spPr>
          <a:xfrm>
            <a:off x="1097280" y="1417320"/>
            <a:ext cx="6949440" cy="360"/>
          </a:xfrm>
          <a:prstGeom prst="line">
            <a:avLst/>
          </a:prstGeom>
          <a:ln w="19050">
            <a:solidFill>
              <a:srgbClr val="C9D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card"/>
          <p:cNvSpPr/>
          <p:nvPr/>
        </p:nvSpPr>
        <p:spPr>
          <a:xfrm>
            <a:off x="457200" y="1645920"/>
            <a:ext cx="1572480" cy="2971440"/>
          </a:xfrm>
          <a:prstGeom prst="roundRect">
            <a:avLst>
              <a:gd name="adj" fmla="val 697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card-accent"/>
          <p:cNvSpPr/>
          <p:nvPr/>
        </p:nvSpPr>
        <p:spPr>
          <a:xfrm>
            <a:off x="685800" y="16459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num-badge"/>
          <p:cNvSpPr/>
          <p:nvPr/>
        </p:nvSpPr>
        <p:spPr>
          <a:xfrm>
            <a:off x="923400" y="114300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5"/>
          <p:cNvSpPr/>
          <p:nvPr/>
        </p:nvSpPr>
        <p:spPr>
          <a:xfrm>
            <a:off x="923400" y="1143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6"/>
          <p:cNvSpPr/>
          <p:nvPr/>
        </p:nvSpPr>
        <p:spPr>
          <a:xfrm>
            <a:off x="548640" y="1828800"/>
            <a:ext cx="138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Entrada do usuário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7"/>
          <p:cNvSpPr/>
          <p:nvPr/>
        </p:nvSpPr>
        <p:spPr>
          <a:xfrm>
            <a:off x="548640" y="2377440"/>
            <a:ext cx="1389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usuário faz uma pergunta ou envia uma mensagem.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example-chip"/>
          <p:cNvSpPr/>
          <p:nvPr/>
        </p:nvSpPr>
        <p:spPr>
          <a:xfrm>
            <a:off x="548640" y="3749040"/>
            <a:ext cx="1389600" cy="594000"/>
          </a:xfrm>
          <a:prstGeom prst="roundRect">
            <a:avLst>
              <a:gd name="adj" fmla="val 12308"/>
            </a:avLst>
          </a:prstGeom>
          <a:solidFill>
            <a:srgbClr val="05070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9"/>
          <p:cNvSpPr/>
          <p:nvPr/>
        </p:nvSpPr>
        <p:spPr>
          <a:xfrm>
            <a:off x="585360" y="37490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“O que é um chatbot?”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card"/>
          <p:cNvSpPr/>
          <p:nvPr/>
        </p:nvSpPr>
        <p:spPr>
          <a:xfrm>
            <a:off x="2139840" y="1645920"/>
            <a:ext cx="1572480" cy="2971440"/>
          </a:xfrm>
          <a:prstGeom prst="roundRect">
            <a:avLst>
              <a:gd name="adj" fmla="val 697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card-accent"/>
          <p:cNvSpPr/>
          <p:nvPr/>
        </p:nvSpPr>
        <p:spPr>
          <a:xfrm>
            <a:off x="2368440" y="164592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num-badge"/>
          <p:cNvSpPr/>
          <p:nvPr/>
        </p:nvSpPr>
        <p:spPr>
          <a:xfrm>
            <a:off x="2606040" y="1143000"/>
            <a:ext cx="548280" cy="5482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3"/>
          <p:cNvSpPr/>
          <p:nvPr/>
        </p:nvSpPr>
        <p:spPr>
          <a:xfrm>
            <a:off x="2606040" y="1143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4"/>
          <p:cNvSpPr/>
          <p:nvPr/>
        </p:nvSpPr>
        <p:spPr>
          <a:xfrm>
            <a:off x="2231280" y="1828800"/>
            <a:ext cx="138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Tokenização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5"/>
          <p:cNvSpPr/>
          <p:nvPr/>
        </p:nvSpPr>
        <p:spPr>
          <a:xfrm>
            <a:off x="2231280" y="2377440"/>
            <a:ext cx="1389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mensagem é dividida em tokens, pequenas unidades de texto que o modelo pode processar.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example-chip"/>
          <p:cNvSpPr/>
          <p:nvPr/>
        </p:nvSpPr>
        <p:spPr>
          <a:xfrm>
            <a:off x="2231280" y="3749040"/>
            <a:ext cx="1389600" cy="594000"/>
          </a:xfrm>
          <a:prstGeom prst="roundRect">
            <a:avLst>
              <a:gd name="adj" fmla="val 12308"/>
            </a:avLst>
          </a:prstGeom>
          <a:solidFill>
            <a:srgbClr val="05070F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7"/>
          <p:cNvSpPr/>
          <p:nvPr/>
        </p:nvSpPr>
        <p:spPr>
          <a:xfrm>
            <a:off x="2267640" y="37490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accent2"/>
                </a:solidFill>
                <a:effectLst/>
                <a:uFillTx/>
                <a:latin typeface="Consolas"/>
                <a:ea typeface="Consolas"/>
              </a:rPr>
              <a:t>["O", "que", "é", "um", "chatbot", "?"]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card"/>
          <p:cNvSpPr/>
          <p:nvPr/>
        </p:nvSpPr>
        <p:spPr>
          <a:xfrm>
            <a:off x="3822120" y="1645920"/>
            <a:ext cx="1572480" cy="2971440"/>
          </a:xfrm>
          <a:prstGeom prst="roundRect">
            <a:avLst>
              <a:gd name="adj" fmla="val 697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card-accent"/>
          <p:cNvSpPr/>
          <p:nvPr/>
        </p:nvSpPr>
        <p:spPr>
          <a:xfrm>
            <a:off x="4050720" y="164592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num-badge"/>
          <p:cNvSpPr/>
          <p:nvPr/>
        </p:nvSpPr>
        <p:spPr>
          <a:xfrm>
            <a:off x="4288680" y="1143000"/>
            <a:ext cx="548280" cy="5482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1"/>
          <p:cNvSpPr/>
          <p:nvPr/>
        </p:nvSpPr>
        <p:spPr>
          <a:xfrm>
            <a:off x="4288680" y="1143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22"/>
          <p:cNvSpPr/>
          <p:nvPr/>
        </p:nvSpPr>
        <p:spPr>
          <a:xfrm>
            <a:off x="3913560" y="1828800"/>
            <a:ext cx="138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Análise com Transformers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23"/>
          <p:cNvSpPr/>
          <p:nvPr/>
        </p:nvSpPr>
        <p:spPr>
          <a:xfrm>
            <a:off x="3913560" y="2377440"/>
            <a:ext cx="1389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modelo analisa os tokens e aplica a arquitetura Transformer para entender o contexto.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card"/>
          <p:cNvSpPr/>
          <p:nvPr/>
        </p:nvSpPr>
        <p:spPr>
          <a:xfrm>
            <a:off x="5504760" y="1645920"/>
            <a:ext cx="1572480" cy="2971440"/>
          </a:xfrm>
          <a:prstGeom prst="roundRect">
            <a:avLst>
              <a:gd name="adj" fmla="val 697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card-accent"/>
          <p:cNvSpPr/>
          <p:nvPr/>
        </p:nvSpPr>
        <p:spPr>
          <a:xfrm>
            <a:off x="5733360" y="16459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num-badge"/>
          <p:cNvSpPr/>
          <p:nvPr/>
        </p:nvSpPr>
        <p:spPr>
          <a:xfrm>
            <a:off x="5970960" y="114300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7"/>
          <p:cNvSpPr/>
          <p:nvPr/>
        </p:nvSpPr>
        <p:spPr>
          <a:xfrm>
            <a:off x="5970960" y="1143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8"/>
          <p:cNvSpPr/>
          <p:nvPr/>
        </p:nvSpPr>
        <p:spPr>
          <a:xfrm>
            <a:off x="5596200" y="1828800"/>
            <a:ext cx="138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Geração da resposta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9"/>
          <p:cNvSpPr/>
          <p:nvPr/>
        </p:nvSpPr>
        <p:spPr>
          <a:xfrm>
            <a:off x="5596200" y="2377440"/>
            <a:ext cx="1389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 base no contexto, o modelo gera uma resposta token por token.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example-chip"/>
          <p:cNvSpPr/>
          <p:nvPr/>
        </p:nvSpPr>
        <p:spPr>
          <a:xfrm>
            <a:off x="5596200" y="3749040"/>
            <a:ext cx="1389600" cy="594000"/>
          </a:xfrm>
          <a:prstGeom prst="roundRect">
            <a:avLst>
              <a:gd name="adj" fmla="val 12308"/>
            </a:avLst>
          </a:prstGeom>
          <a:solidFill>
            <a:srgbClr val="05070F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31"/>
          <p:cNvSpPr/>
          <p:nvPr/>
        </p:nvSpPr>
        <p:spPr>
          <a:xfrm>
            <a:off x="5632560" y="37490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["Um", "chatbot", "é", …]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card"/>
          <p:cNvSpPr/>
          <p:nvPr/>
        </p:nvSpPr>
        <p:spPr>
          <a:xfrm>
            <a:off x="7187040" y="1645920"/>
            <a:ext cx="1572480" cy="2971440"/>
          </a:xfrm>
          <a:prstGeom prst="roundRect">
            <a:avLst>
              <a:gd name="adj" fmla="val 697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card-accent"/>
          <p:cNvSpPr/>
          <p:nvPr/>
        </p:nvSpPr>
        <p:spPr>
          <a:xfrm>
            <a:off x="7415640" y="164592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num-badge"/>
          <p:cNvSpPr/>
          <p:nvPr/>
        </p:nvSpPr>
        <p:spPr>
          <a:xfrm>
            <a:off x="7653600" y="1143000"/>
            <a:ext cx="548280" cy="54828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35"/>
          <p:cNvSpPr/>
          <p:nvPr/>
        </p:nvSpPr>
        <p:spPr>
          <a:xfrm>
            <a:off x="7653600" y="1143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36"/>
          <p:cNvSpPr/>
          <p:nvPr/>
        </p:nvSpPr>
        <p:spPr>
          <a:xfrm>
            <a:off x="7278480" y="1828800"/>
            <a:ext cx="1389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Resposta ao usuário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37"/>
          <p:cNvSpPr/>
          <p:nvPr/>
        </p:nvSpPr>
        <p:spPr>
          <a:xfrm>
            <a:off x="7278480" y="2377440"/>
            <a:ext cx="1389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Os tokens são convertidos novamente em texto, e a resposta completa é enviada ao usuário.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example-chip"/>
          <p:cNvSpPr/>
          <p:nvPr/>
        </p:nvSpPr>
        <p:spPr>
          <a:xfrm>
            <a:off x="7278480" y="3749040"/>
            <a:ext cx="1389600" cy="594000"/>
          </a:xfrm>
          <a:prstGeom prst="roundRect">
            <a:avLst>
              <a:gd name="adj" fmla="val 12308"/>
            </a:avLst>
          </a:prstGeom>
          <a:solidFill>
            <a:srgbClr val="05070F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9"/>
          <p:cNvSpPr/>
          <p:nvPr/>
        </p:nvSpPr>
        <p:spPr>
          <a:xfrm>
            <a:off x="7315200" y="37490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accent5"/>
                </a:solidFill>
                <a:effectLst/>
                <a:uFillTx/>
                <a:latin typeface="Consolas"/>
                <a:ea typeface="Consolas"/>
              </a:rPr>
              <a:t>“Um chatbot é um …”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sldNum" idx="30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AD3DA-D5B5-4F4C-8AE3-CA84E1D2EC32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hasCustomPrompt="1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PARTE 04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Visão computacional e Reconhecimento de Objetos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 2"/>
          <p:cNvSpPr/>
          <p:nvPr/>
        </p:nvSpPr>
        <p:spPr>
          <a:xfrm>
            <a:off x="6583680" y="15544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chemeClr val="accent2">
                    <a:alpha val="60000"/>
                  </a:schemeClr>
                </a:solidFill>
                <a:effectLst/>
                <a:uFillTx/>
                <a:latin typeface="Calibri"/>
              </a:rPr>
              <a:t>04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 que é visão computacional?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3" name="card"/>
          <p:cNvSpPr/>
          <p:nvPr/>
        </p:nvSpPr>
        <p:spPr>
          <a:xfrm>
            <a:off x="457200" y="1188720"/>
            <a:ext cx="8229240" cy="196560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card-accent"/>
          <p:cNvSpPr/>
          <p:nvPr/>
        </p:nvSpPr>
        <p:spPr>
          <a:xfrm>
            <a:off x="685800" y="118872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icon-badge"/>
          <p:cNvSpPr/>
          <p:nvPr/>
        </p:nvSpPr>
        <p:spPr>
          <a:xfrm>
            <a:off x="777240" y="178308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6" name="Image 0" descr="ícone"/>
          <p:cNvPicPr/>
          <p:nvPr/>
        </p:nvPicPr>
        <p:blipFill>
          <a:blip r:embed="rId1"/>
          <a:stretch/>
        </p:blipFill>
        <p:spPr>
          <a:xfrm>
            <a:off x="983160" y="19890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 4"/>
          <p:cNvSpPr/>
          <p:nvPr/>
        </p:nvSpPr>
        <p:spPr>
          <a:xfrm>
            <a:off x="1920240" y="1280160"/>
            <a:ext cx="65833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Visão Computacional</a:t>
            </a:r>
            <a:r>
              <a:rPr lang="en-US" sz="19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é a área da IA que permite que um computador “veja” e entenda imagens, vídeos e objetos ao redor.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card"/>
          <p:cNvSpPr/>
          <p:nvPr/>
        </p:nvSpPr>
        <p:spPr>
          <a:xfrm>
            <a:off x="457200" y="3337560"/>
            <a:ext cx="8229240" cy="127980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card-accent"/>
          <p:cNvSpPr/>
          <p:nvPr/>
        </p:nvSpPr>
        <p:spPr>
          <a:xfrm>
            <a:off x="685800" y="333756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7"/>
          <p:cNvSpPr/>
          <p:nvPr/>
        </p:nvSpPr>
        <p:spPr>
          <a:xfrm>
            <a:off x="731520" y="3383280"/>
            <a:ext cx="7680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“Ensinar” a IA a interpretar imagens, reconhecendo e classificando objetos.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 type="sldNum" idx="31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4E7DBA-800C-44DA-924E-28C51F636602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Visão computacional no dia a dia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3" name="card"/>
          <p:cNvSpPr/>
          <p:nvPr/>
        </p:nvSpPr>
        <p:spPr>
          <a:xfrm>
            <a:off x="457200" y="1143000"/>
            <a:ext cx="2651400" cy="3520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5" name="Image 0" descr="Carros autônomos"/>
          <p:cNvPicPr/>
          <p:nvPr/>
        </p:nvPicPr>
        <p:blipFill>
          <a:blip r:embed="rId1"/>
          <a:stretch/>
        </p:blipFill>
        <p:spPr>
          <a:xfrm>
            <a:off x="567000" y="1280160"/>
            <a:ext cx="2431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Text 3"/>
          <p:cNvSpPr/>
          <p:nvPr/>
        </p:nvSpPr>
        <p:spPr>
          <a:xfrm>
            <a:off x="594360" y="26334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lt2"/>
                </a:solidFill>
                <a:effectLst/>
                <a:uFillTx/>
                <a:latin typeface="Calibri"/>
              </a:rPr>
              <a:t>Exemplo 1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4"/>
          <p:cNvSpPr/>
          <p:nvPr/>
        </p:nvSpPr>
        <p:spPr>
          <a:xfrm>
            <a:off x="594360" y="28346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Carros autônomos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5"/>
          <p:cNvSpPr/>
          <p:nvPr/>
        </p:nvSpPr>
        <p:spPr>
          <a:xfrm>
            <a:off x="594360" y="315468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Usam visão computacional para “ver” a estrada, identificar sinais de trânsito, pedestres e outros veículos. Esse reconhecimento de objetos ajuda o carro a navegar com segurança.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card"/>
          <p:cNvSpPr/>
          <p:nvPr/>
        </p:nvSpPr>
        <p:spPr>
          <a:xfrm>
            <a:off x="3246120" y="1143000"/>
            <a:ext cx="2651400" cy="3520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card-accent"/>
          <p:cNvSpPr/>
          <p:nvPr/>
        </p:nvSpPr>
        <p:spPr>
          <a:xfrm>
            <a:off x="3474720" y="114300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1" name="Image 1" descr="Câmeras de segurança inteligentes"/>
          <p:cNvPicPr/>
          <p:nvPr/>
        </p:nvPicPr>
        <p:blipFill>
          <a:blip r:embed="rId2"/>
          <a:stretch/>
        </p:blipFill>
        <p:spPr>
          <a:xfrm>
            <a:off x="3355920" y="1280160"/>
            <a:ext cx="2431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Text 8"/>
          <p:cNvSpPr/>
          <p:nvPr/>
        </p:nvSpPr>
        <p:spPr>
          <a:xfrm>
            <a:off x="3383280" y="26334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lt2"/>
                </a:solidFill>
                <a:effectLst/>
                <a:uFillTx/>
                <a:latin typeface="Calibri"/>
              </a:rPr>
              <a:t>Exemplo 2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9"/>
          <p:cNvSpPr/>
          <p:nvPr/>
        </p:nvSpPr>
        <p:spPr>
          <a:xfrm>
            <a:off x="3383280" y="28346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Câmeras de segurança inteligentes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0"/>
          <p:cNvSpPr/>
          <p:nvPr/>
        </p:nvSpPr>
        <p:spPr>
          <a:xfrm>
            <a:off x="3383280" y="315468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Ajudam a identificar movimentos suspeitos e até reconhecer rostos de pessoas, aumentando a segurança de locais públicos e privados.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card"/>
          <p:cNvSpPr/>
          <p:nvPr/>
        </p:nvSpPr>
        <p:spPr>
          <a:xfrm>
            <a:off x="6035040" y="1143000"/>
            <a:ext cx="2651400" cy="3520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card-accent"/>
          <p:cNvSpPr/>
          <p:nvPr/>
        </p:nvSpPr>
        <p:spPr>
          <a:xfrm>
            <a:off x="6263640" y="114300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7" name="Image 2" descr="Filtros do Instagram"/>
          <p:cNvPicPr/>
          <p:nvPr/>
        </p:nvPicPr>
        <p:blipFill>
          <a:blip r:embed="rId3"/>
          <a:stretch/>
        </p:blipFill>
        <p:spPr>
          <a:xfrm>
            <a:off x="6144840" y="1280160"/>
            <a:ext cx="2431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Text 13"/>
          <p:cNvSpPr/>
          <p:nvPr/>
        </p:nvSpPr>
        <p:spPr>
          <a:xfrm>
            <a:off x="6172200" y="26334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chemeClr val="lt2"/>
                </a:solidFill>
                <a:effectLst/>
                <a:uFillTx/>
                <a:latin typeface="Calibri"/>
              </a:rPr>
              <a:t>Exemplo 3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14"/>
          <p:cNvSpPr/>
          <p:nvPr/>
        </p:nvSpPr>
        <p:spPr>
          <a:xfrm>
            <a:off x="6172200" y="28346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Filtros do Instagram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5"/>
          <p:cNvSpPr/>
          <p:nvPr/>
        </p:nvSpPr>
        <p:spPr>
          <a:xfrm>
            <a:off x="6172200" y="315468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Quando você usa um filtro de rosto, a IA reconhece seu rosto e adapta o filtro para se encaixar perfeitamente, identificando cada característica, como olhos e boca.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sldNum" idx="32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7F5D49-4C74-456D-9919-48DA07353B8D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Como a IA reconhece objetos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3" name="card"/>
          <p:cNvSpPr/>
          <p:nvPr/>
        </p:nvSpPr>
        <p:spPr>
          <a:xfrm>
            <a:off x="457200" y="1143000"/>
            <a:ext cx="8229240" cy="1188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card-accent"/>
          <p:cNvSpPr/>
          <p:nvPr/>
        </p:nvSpPr>
        <p:spPr>
          <a:xfrm>
            <a:off x="685800" y="114300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3"/>
          <p:cNvSpPr/>
          <p:nvPr/>
        </p:nvSpPr>
        <p:spPr>
          <a:xfrm>
            <a:off x="731520" y="1188720"/>
            <a:ext cx="7680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IA aprende a identificar objetos ao ver muitas fotos do mesmo tipo. Cada foto ensina a IA o que é característico de um objeto específico (por exemplo, orelhas e bigodes para um gato).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card"/>
          <p:cNvSpPr/>
          <p:nvPr/>
        </p:nvSpPr>
        <p:spPr>
          <a:xfrm>
            <a:off x="457200" y="2606040"/>
            <a:ext cx="2377080" cy="201132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card-accent"/>
          <p:cNvSpPr/>
          <p:nvPr/>
        </p:nvSpPr>
        <p:spPr>
          <a:xfrm>
            <a:off x="685800" y="260604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icon-badge"/>
          <p:cNvSpPr/>
          <p:nvPr/>
        </p:nvSpPr>
        <p:spPr>
          <a:xfrm>
            <a:off x="640080" y="2788920"/>
            <a:ext cx="502560" cy="5025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9" name="Image 0" descr="ícone"/>
          <p:cNvPicPr/>
          <p:nvPr/>
        </p:nvPicPr>
        <p:blipFill>
          <a:blip r:embed="rId1"/>
          <a:stretch/>
        </p:blipFill>
        <p:spPr>
          <a:xfrm>
            <a:off x="765720" y="29145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Text 7"/>
          <p:cNvSpPr/>
          <p:nvPr/>
        </p:nvSpPr>
        <p:spPr>
          <a:xfrm>
            <a:off x="1280160" y="278892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1. Coleta de dados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8"/>
          <p:cNvSpPr/>
          <p:nvPr/>
        </p:nvSpPr>
        <p:spPr>
          <a:xfrm>
            <a:off x="640080" y="3429000"/>
            <a:ext cx="2057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Milhares de imagens de um mesmo objeto (por exemplo, gatos).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arrow"/>
          <p:cNvSpPr/>
          <p:nvPr/>
        </p:nvSpPr>
        <p:spPr>
          <a:xfrm>
            <a:off x="2971800" y="34290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C9D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card"/>
          <p:cNvSpPr/>
          <p:nvPr/>
        </p:nvSpPr>
        <p:spPr>
          <a:xfrm>
            <a:off x="3383280" y="2606040"/>
            <a:ext cx="2377080" cy="201132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card-accent"/>
          <p:cNvSpPr/>
          <p:nvPr/>
        </p:nvSpPr>
        <p:spPr>
          <a:xfrm>
            <a:off x="3611880" y="2606040"/>
            <a:ext cx="548280" cy="4536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icon-badge"/>
          <p:cNvSpPr/>
          <p:nvPr/>
        </p:nvSpPr>
        <p:spPr>
          <a:xfrm>
            <a:off x="3566160" y="2788920"/>
            <a:ext cx="502560" cy="5025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B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6" name="Image 1" descr="ícone"/>
          <p:cNvPicPr/>
          <p:nvPr/>
        </p:nvPicPr>
        <p:blipFill>
          <a:blip r:embed="rId2"/>
          <a:stretch/>
        </p:blipFill>
        <p:spPr>
          <a:xfrm>
            <a:off x="3691800" y="29145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Text 13"/>
          <p:cNvSpPr/>
          <p:nvPr/>
        </p:nvSpPr>
        <p:spPr>
          <a:xfrm>
            <a:off x="4206240" y="278892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2. Treinamento do modelo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4"/>
          <p:cNvSpPr/>
          <p:nvPr/>
        </p:nvSpPr>
        <p:spPr>
          <a:xfrm>
            <a:off x="3566160" y="3429000"/>
            <a:ext cx="2057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IA analisa as fotos e aprende o que faz cada objeto ser único.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arrow"/>
          <p:cNvSpPr/>
          <p:nvPr/>
        </p:nvSpPr>
        <p:spPr>
          <a:xfrm>
            <a:off x="5897880" y="34290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C9D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card"/>
          <p:cNvSpPr/>
          <p:nvPr/>
        </p:nvSpPr>
        <p:spPr>
          <a:xfrm>
            <a:off x="6309360" y="2606040"/>
            <a:ext cx="2377080" cy="201132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card-accent"/>
          <p:cNvSpPr/>
          <p:nvPr/>
        </p:nvSpPr>
        <p:spPr>
          <a:xfrm>
            <a:off x="6537960" y="2606040"/>
            <a:ext cx="548280" cy="4536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icon-badge"/>
          <p:cNvSpPr/>
          <p:nvPr/>
        </p:nvSpPr>
        <p:spPr>
          <a:xfrm>
            <a:off x="6492240" y="2788920"/>
            <a:ext cx="502560" cy="502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3D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Image 2" descr="ícone"/>
          <p:cNvPicPr/>
          <p:nvPr/>
        </p:nvPicPr>
        <p:blipFill>
          <a:blip r:embed="rId3"/>
          <a:stretch/>
        </p:blipFill>
        <p:spPr>
          <a:xfrm>
            <a:off x="6617880" y="29145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Text 19"/>
          <p:cNvSpPr/>
          <p:nvPr/>
        </p:nvSpPr>
        <p:spPr>
          <a:xfrm>
            <a:off x="7132320" y="278892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3. Reconhecimento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0"/>
          <p:cNvSpPr/>
          <p:nvPr/>
        </p:nvSpPr>
        <p:spPr>
          <a:xfrm>
            <a:off x="6492240" y="3429000"/>
            <a:ext cx="2057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Quando vê uma imagem nova, a IA consegue identificar se é ou não um gato com base no que aprendeu.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 type="sldNum" idx="33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4B6645-A5F7-4AE3-A9A7-F9EF6CBE6E99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384120"/>
            <a:ext cx="8229240" cy="62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Redes neurais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8" name="Image 0" descr="Diagrama de rede neural com camadas de entrada, ocultas e saída"/>
          <p:cNvPicPr/>
          <p:nvPr/>
        </p:nvPicPr>
        <p:blipFill>
          <a:blip r:embed="rId1"/>
          <a:stretch/>
        </p:blipFill>
        <p:spPr>
          <a:xfrm>
            <a:off x="457200" y="1188720"/>
            <a:ext cx="493740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link-pill"/>
          <p:cNvSpPr/>
          <p:nvPr/>
        </p:nvSpPr>
        <p:spPr>
          <a:xfrm>
            <a:off x="457200" y="4251960"/>
            <a:ext cx="4937400" cy="411120"/>
          </a:xfrm>
          <a:prstGeom prst="roundRect">
            <a:avLst>
              <a:gd name="adj" fmla="val 48889"/>
            </a:avLst>
          </a:prstGeom>
          <a:solidFill>
            <a:schemeClr val="tx1"/>
          </a:solidFill>
          <a:ln w="1587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"/>
          <p:cNvSpPr/>
          <p:nvPr/>
        </p:nvSpPr>
        <p:spPr>
          <a:xfrm>
            <a:off x="457200" y="425196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chemeClr val="accent1"/>
                </a:solidFill>
                <a:effectLst/>
                <a:uFillTx/>
                <a:latin typeface="Calibri"/>
                <a:hlinkClick r:id="rId2"/>
              </a:rPr>
              <a:t>Experimente: TensorFlow Playground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card"/>
          <p:cNvSpPr/>
          <p:nvPr/>
        </p:nvSpPr>
        <p:spPr>
          <a:xfrm>
            <a:off x="5577840" y="1188720"/>
            <a:ext cx="3108600" cy="114264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card-accent"/>
          <p:cNvSpPr/>
          <p:nvPr/>
        </p:nvSpPr>
        <p:spPr>
          <a:xfrm>
            <a:off x="5806440" y="1188720"/>
            <a:ext cx="548280" cy="453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6F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5"/>
          <p:cNvSpPr/>
          <p:nvPr/>
        </p:nvSpPr>
        <p:spPr>
          <a:xfrm>
            <a:off x="5760720" y="1280160"/>
            <a:ext cx="2788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O QUE SÃO?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Sistemas de computação inspirados no cérebro humano.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card"/>
          <p:cNvSpPr/>
          <p:nvPr/>
        </p:nvSpPr>
        <p:spPr>
          <a:xfrm>
            <a:off x="5577840" y="2468880"/>
            <a:ext cx="3108600" cy="658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card-accent"/>
          <p:cNvSpPr/>
          <p:nvPr/>
        </p:nvSpPr>
        <p:spPr>
          <a:xfrm>
            <a:off x="5806440" y="2468880"/>
            <a:ext cx="548280" cy="45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8"/>
          <p:cNvSpPr/>
          <p:nvPr/>
        </p:nvSpPr>
        <p:spPr>
          <a:xfrm>
            <a:off x="5760720" y="2505600"/>
            <a:ext cx="2788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Camada de entrada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Recebe os dados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card"/>
          <p:cNvSpPr/>
          <p:nvPr/>
        </p:nvSpPr>
        <p:spPr>
          <a:xfrm>
            <a:off x="5577840" y="3218760"/>
            <a:ext cx="3108600" cy="658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card-accent"/>
          <p:cNvSpPr/>
          <p:nvPr/>
        </p:nvSpPr>
        <p:spPr>
          <a:xfrm>
            <a:off x="5806440" y="3218760"/>
            <a:ext cx="548280" cy="45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B2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1"/>
          <p:cNvSpPr/>
          <p:nvPr/>
        </p:nvSpPr>
        <p:spPr>
          <a:xfrm>
            <a:off x="5760720" y="3255120"/>
            <a:ext cx="2788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Camadas ocultas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Processam as informações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card"/>
          <p:cNvSpPr/>
          <p:nvPr/>
        </p:nvSpPr>
        <p:spPr>
          <a:xfrm>
            <a:off x="5577840" y="3968640"/>
            <a:ext cx="3108600" cy="658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6350">
            <a:solidFill>
              <a:srgbClr val="172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card-accent"/>
          <p:cNvSpPr/>
          <p:nvPr/>
        </p:nvSpPr>
        <p:spPr>
          <a:xfrm>
            <a:off x="5806440" y="3968640"/>
            <a:ext cx="548280" cy="453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4D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14"/>
          <p:cNvSpPr/>
          <p:nvPr/>
        </p:nvSpPr>
        <p:spPr>
          <a:xfrm>
            <a:off x="5760720" y="4005000"/>
            <a:ext cx="2788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Camada de saída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Produz o resultado final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sldNum" idx="34"/>
          </p:nvPr>
        </p:nvSpPr>
        <p:spPr>
          <a:xfrm>
            <a:off x="8138160" y="4773240"/>
            <a:ext cx="54828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2319D-3EC8-45A5-8073-1E23BFC3B316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&lt;número&gt;</a:t>
            </a:fld>
            <a:endParaRPr lang="pt-B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hasCustomPrompt="1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MÃO NA MASSA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Exemplo prático no Google Colab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6" name="link-button"/>
          <p:cNvSpPr/>
          <p:nvPr/>
        </p:nvSpPr>
        <p:spPr>
          <a:xfrm>
            <a:off x="731520" y="3794760"/>
            <a:ext cx="3840120" cy="4568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3"/>
          <p:cNvSpPr/>
          <p:nvPr/>
        </p:nvSpPr>
        <p:spPr>
          <a:xfrm>
            <a:off x="731520" y="37947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colab.research.google.com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4"/>
          <p:cNvSpPr/>
          <p:nvPr/>
        </p:nvSpPr>
        <p:spPr>
          <a:xfrm>
            <a:off x="6400800" y="1645920"/>
            <a:ext cx="2559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chemeClr val="accent1">
                    <a:alpha val="60000"/>
                  </a:schemeClr>
                </a:solidFill>
                <a:effectLst/>
                <a:uFillTx/>
                <a:latin typeface="Consolas"/>
                <a:ea typeface="Consolas"/>
              </a:rPr>
              <a:t>&lt;/&gt;</a:t>
            </a:r>
            <a:endParaRPr lang="pt-BR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hasCustomPrompt="1"/>
          </p:nvPr>
        </p:nvSpPr>
        <p:spPr>
          <a:xfrm>
            <a:off x="731520" y="160020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FIM DA AULA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2011680"/>
            <a:ext cx="5851800" cy="17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Obrigado!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Bora perguntar?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 2"/>
          <p:cNvSpPr/>
          <p:nvPr/>
        </p:nvSpPr>
        <p:spPr>
          <a:xfrm>
            <a:off x="731520" y="393192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Luis Felipe Pereira  ·  Maria Julia Varga </a:t>
            </a: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Sita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Maria Isabelly da Silva Andrade  ·  Pedro </a:t>
            </a:r>
            <a:r>
              <a:rPr lang="en-US" sz="115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Augusto de Lima Cardozo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4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Daniel Elias Fonseca Rumin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A Neon">
  <a:themeElements>
    <a:clrScheme name="IA Neon">
      <a:dk1>
        <a:srgbClr val="0B1020"/>
      </a:dk1>
      <a:lt1>
        <a:srgbClr val="FFFFFF"/>
      </a:lt1>
      <a:dk2>
        <a:srgbClr val="172042"/>
      </a:dk2>
      <a:lt2>
        <a:srgbClr val="C9D1F0"/>
      </a:lt2>
      <a:accent1>
        <a:srgbClr val="00E5FF"/>
      </a:accent1>
      <a:accent2>
        <a:srgbClr val="B26BFF"/>
      </a:accent2>
      <a:accent3>
        <a:srgbClr val="FF4D8D"/>
      </a:accent3>
      <a:accent4>
        <a:srgbClr val="C6FF3D"/>
      </a:accent4>
      <a:accent5>
        <a:srgbClr val="FFB02E"/>
      </a:accent5>
      <a:accent6>
        <a:srgbClr val="3D7BFF"/>
      </a:accent6>
      <a:hlink>
        <a:srgbClr val="00E5FF"/>
      </a:hlink>
      <a:folHlink>
        <a:srgbClr val="B26BFF"/>
      </a:folHlink>
    </a:clrScheme>
    <a:fontScheme name="IA Neon">
      <a:majorFont>
        <a:latin typeface="Trebuchet MS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2026-10-16T18:38:53Z</dcterms:created>
  <dc:creator>PptxGenJS</dc:creator>
  <dc:description/>
  <dc:language>pt-BR</dc:language>
  <cp:lastModifiedBy/>
  <dcterms:modified xsi:type="dcterms:W3CDTF">2026-10-27T19:33:49Z</dcterms:modified>
  <cp:revision>2</cp:revision>
  <dc:subject>PptxGenJS Presentation</dc:subject>
  <dc:title>Introdução à Inteligência Artificial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37</vt:i4>
  </property>
  <property fmtid="{D5CDD505-2E9C-101B-9397-08002B2CF9AE}" pid="3" name="PresentationFormat">
    <vt:lpwstr>On-screen Show (16:9)</vt:lpwstr>
  </property>
  <property fmtid="{D5CDD505-2E9C-101B-9397-08002B2CF9AE}" pid="4" name="Slides">
    <vt:i4>37</vt:i4>
  </property>
</Properties>
</file>